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530"/>
        </a:solidFill>
      </p:bgPr>
    </p:bg>
    <p:spTree>
      <p:nvGrpSpPr>
        <p:cNvPr id="1" name=""/>
        <p:cNvGrpSpPr/>
        <p:nvPr/>
      </p:nvGrpSpPr>
      <p:grpSpPr>
        <a:xfrm>
          <a:off x="0" y="0"/>
          <a:ext cx="0" cy="0"/>
          <a:chOff x="0" y="0"/>
          <a:chExt cx="0" cy="0"/>
        </a:xfrm>
      </p:grpSpPr>
      <p:sp>
        <p:nvSpPr>
          <p:cNvPr id="2" name="Shape 0"/>
          <p:cNvSpPr/>
          <p:nvPr/>
        </p:nvSpPr>
        <p:spPr>
          <a:xfrm>
            <a:off x="8686800" y="0"/>
            <a:ext cx="3474720" cy="6858000"/>
          </a:xfrm>
          <a:prstGeom prst="rect">
            <a:avLst/>
          </a:prstGeom>
          <a:solidFill>
            <a:srgbClr val="3D6655"/>
          </a:solidFill>
          <a:ln w="12700">
            <a:solidFill>
              <a:srgbClr val="3D6655"/>
            </a:solidFill>
            <a:prstDash val="solid"/>
          </a:ln>
        </p:spPr>
      </p:sp>
      <p:sp>
        <p:nvSpPr>
          <p:cNvPr id="3" name="Shape 1"/>
          <p:cNvSpPr/>
          <p:nvPr/>
        </p:nvSpPr>
        <p:spPr>
          <a:xfrm>
            <a:off x="9601200" y="2651760"/>
            <a:ext cx="1645920" cy="1645920"/>
          </a:xfrm>
          <a:prstGeom prst="rect">
            <a:avLst/>
          </a:prstGeom>
          <a:solidFill>
            <a:srgbClr val="D9603F"/>
          </a:solidFill>
          <a:ln w="12700">
            <a:solidFill>
              <a:srgbClr val="D9603F"/>
            </a:solidFill>
            <a:prstDash val="solid"/>
          </a:ln>
        </p:spPr>
      </p:sp>
      <p:sp>
        <p:nvSpPr>
          <p:cNvPr id="4" name="Text 2"/>
          <p:cNvSpPr/>
          <p:nvPr/>
        </p:nvSpPr>
        <p:spPr>
          <a:xfrm>
            <a:off x="640080" y="731520"/>
            <a:ext cx="7315200" cy="365760"/>
          </a:xfrm>
          <a:prstGeom prst="rect">
            <a:avLst/>
          </a:prstGeom>
          <a:noFill/>
          <a:ln/>
        </p:spPr>
        <p:txBody>
          <a:bodyPr wrap="square" lIns="0" tIns="0" rIns="0" bIns="0" rtlCol="0" anchor="ctr"/>
          <a:lstStyle/>
          <a:p>
            <a:pPr indent="0" marL="0">
              <a:buNone/>
            </a:pPr>
            <a:r>
              <a:rPr lang="en-US" sz="1100" b="1" spc="400" kern="0" dirty="0">
                <a:solidFill>
                  <a:srgbClr val="7FA38D"/>
                </a:solidFill>
                <a:latin typeface="Calibri" pitchFamily="34" charset="0"/>
                <a:ea typeface="Calibri" pitchFamily="34" charset="-122"/>
                <a:cs typeface="Calibri" pitchFamily="34" charset="-120"/>
              </a:rPr>
              <a:t>HEALTHCARE ANALYTICS PROJECT</a:t>
            </a:r>
            <a:endParaRPr lang="en-US" sz="1100" dirty="0"/>
          </a:p>
        </p:txBody>
      </p:sp>
      <p:sp>
        <p:nvSpPr>
          <p:cNvPr id="5" name="Text 3"/>
          <p:cNvSpPr/>
          <p:nvPr/>
        </p:nvSpPr>
        <p:spPr>
          <a:xfrm>
            <a:off x="640080" y="1463040"/>
            <a:ext cx="7772400" cy="1828800"/>
          </a:xfrm>
          <a:prstGeom prst="rect">
            <a:avLst/>
          </a:prstGeom>
          <a:noFill/>
          <a:ln/>
        </p:spPr>
        <p:txBody>
          <a:bodyPr wrap="square" lIns="0" tIns="0" rIns="0" bIns="0" rtlCol="0" anchor="t"/>
          <a:lstStyle/>
          <a:p>
            <a:pPr indent="0" marL="0">
              <a:buNone/>
            </a:pPr>
            <a:r>
              <a:rPr lang="en-US" sz="8800" b="1" dirty="0">
                <a:solidFill>
                  <a:srgbClr val="F4F1EA"/>
                </a:solidFill>
                <a:latin typeface="Georgia" pitchFamily="34" charset="0"/>
                <a:ea typeface="Georgia" pitchFamily="34" charset="-122"/>
                <a:cs typeface="Georgia" pitchFamily="34" charset="-120"/>
              </a:rPr>
              <a:t>Vitalis</a:t>
            </a:r>
            <a:endParaRPr lang="en-US" sz="8800" dirty="0"/>
          </a:p>
        </p:txBody>
      </p:sp>
      <p:sp>
        <p:nvSpPr>
          <p:cNvPr id="6" name="Text 4"/>
          <p:cNvSpPr/>
          <p:nvPr/>
        </p:nvSpPr>
        <p:spPr>
          <a:xfrm>
            <a:off x="640080" y="3291840"/>
            <a:ext cx="7772400" cy="640080"/>
          </a:xfrm>
          <a:prstGeom prst="rect">
            <a:avLst/>
          </a:prstGeom>
          <a:noFill/>
          <a:ln/>
        </p:spPr>
        <p:txBody>
          <a:bodyPr wrap="square" lIns="0" tIns="0" rIns="0" bIns="0" rtlCol="0" anchor="t"/>
          <a:lstStyle/>
          <a:p>
            <a:pPr indent="0" marL="0">
              <a:buNone/>
            </a:pPr>
            <a:r>
              <a:rPr lang="en-US" sz="2200" i="1" dirty="0">
                <a:solidFill>
                  <a:srgbClr val="EFE9DC"/>
                </a:solidFill>
                <a:latin typeface="Georgia" pitchFamily="34" charset="0"/>
                <a:ea typeface="Georgia" pitchFamily="34" charset="-122"/>
                <a:cs typeface="Georgia" pitchFamily="34" charset="-120"/>
              </a:rPr>
              <a:t>Healthcare data, transformed into decisions.</a:t>
            </a:r>
            <a:endParaRPr lang="en-US" sz="2200" dirty="0"/>
          </a:p>
        </p:txBody>
      </p:sp>
      <p:sp>
        <p:nvSpPr>
          <p:cNvPr id="7" name="Text 5"/>
          <p:cNvSpPr/>
          <p:nvPr/>
        </p:nvSpPr>
        <p:spPr>
          <a:xfrm>
            <a:off x="640080" y="4206240"/>
            <a:ext cx="7680960" cy="914400"/>
          </a:xfrm>
          <a:prstGeom prst="rect">
            <a:avLst/>
          </a:prstGeom>
          <a:noFill/>
          <a:ln/>
        </p:spPr>
        <p:txBody>
          <a:bodyPr wrap="square" lIns="0" tIns="0" rIns="0" bIns="0" rtlCol="0" anchor="t"/>
          <a:lstStyle/>
          <a:p>
            <a:pPr indent="0" marL="0">
              <a:buNone/>
            </a:pPr>
            <a:r>
              <a:rPr lang="en-US" sz="1400" dirty="0">
                <a:solidFill>
                  <a:srgbClr val="EFE9DC"/>
                </a:solidFill>
                <a:latin typeface="Calibri" pitchFamily="34" charset="0"/>
                <a:ea typeface="Calibri" pitchFamily="34" charset="-122"/>
                <a:cs typeface="Calibri" pitchFamily="34" charset="-120"/>
              </a:rPr>
              <a:t>Six Power BI dashboard pages, a corrected SQL workbook, and a React web app — all built on a synthetic patient dataset of 20,000 appointments across 5 clinics.</a:t>
            </a:r>
            <a:endParaRPr lang="en-US" sz="1400" dirty="0"/>
          </a:p>
        </p:txBody>
      </p:sp>
      <p:sp>
        <p:nvSpPr>
          <p:cNvPr id="8" name="Text 6"/>
          <p:cNvSpPr/>
          <p:nvPr/>
        </p:nvSpPr>
        <p:spPr>
          <a:xfrm>
            <a:off x="640080" y="5943600"/>
            <a:ext cx="4572000" cy="274320"/>
          </a:xfrm>
          <a:prstGeom prst="rect">
            <a:avLst/>
          </a:prstGeom>
          <a:noFill/>
          <a:ln/>
        </p:spPr>
        <p:txBody>
          <a:bodyPr wrap="square" lIns="0" tIns="0" rIns="0" bIns="0" rtlCol="0" anchor="ctr"/>
          <a:lstStyle/>
          <a:p>
            <a:pPr indent="0" marL="0">
              <a:buNone/>
            </a:pPr>
            <a:r>
              <a:rPr lang="en-US" sz="1000" b="1" spc="400" kern="0" dirty="0">
                <a:solidFill>
                  <a:srgbClr val="C2A046"/>
                </a:solidFill>
                <a:latin typeface="Calibri" pitchFamily="34" charset="0"/>
                <a:ea typeface="Calibri" pitchFamily="34" charset="-122"/>
                <a:cs typeface="Calibri" pitchFamily="34" charset="-120"/>
              </a:rPr>
              <a:t>PROJECT DOCUMENTATION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01 · INTRODUCTION</a:t>
            </a:r>
            <a:endParaRPr lang="en-US" sz="1000" dirty="0"/>
          </a:p>
        </p:txBody>
      </p:sp>
      <p:sp>
        <p:nvSpPr>
          <p:cNvPr id="3" name="Text 1"/>
          <p:cNvSpPr/>
          <p:nvPr/>
        </p:nvSpPr>
        <p:spPr>
          <a:xfrm>
            <a:off x="457200" y="822960"/>
            <a:ext cx="10972800" cy="731520"/>
          </a:xfrm>
          <a:prstGeom prst="rect">
            <a:avLst/>
          </a:prstGeom>
          <a:noFill/>
          <a:ln/>
        </p:spPr>
        <p:txBody>
          <a:bodyPr wrap="square" lIns="0" tIns="0" rIns="0" bIns="0" rtlCol="0" anchor="ctr"/>
          <a:lstStyle/>
          <a:p>
            <a:pPr indent="0" marL="0">
              <a:buNone/>
            </a:pPr>
            <a:r>
              <a:rPr lang="en-US" sz="4200" b="1" dirty="0">
                <a:solidFill>
                  <a:srgbClr val="1A2530"/>
                </a:solidFill>
                <a:latin typeface="Georgia" pitchFamily="34" charset="0"/>
                <a:ea typeface="Georgia" pitchFamily="34" charset="-122"/>
                <a:cs typeface="Georgia" pitchFamily="34" charset="-120"/>
              </a:rPr>
              <a:t>What this project is</a:t>
            </a:r>
            <a:endParaRPr lang="en-US" sz="4200" dirty="0"/>
          </a:p>
        </p:txBody>
      </p:sp>
      <p:sp>
        <p:nvSpPr>
          <p:cNvPr id="4" name="Text 2"/>
          <p:cNvSpPr/>
          <p:nvPr/>
        </p:nvSpPr>
        <p:spPr>
          <a:xfrm>
            <a:off x="457200" y="1828800"/>
            <a:ext cx="6858000" cy="2286000"/>
          </a:xfrm>
          <a:prstGeom prst="rect">
            <a:avLst/>
          </a:prstGeom>
          <a:noFill/>
          <a:ln/>
        </p:spPr>
        <p:txBody>
          <a:bodyPr wrap="square" lIns="0" tIns="0" rIns="0" bIns="0" rtlCol="0" anchor="t"/>
          <a:lstStyle/>
          <a:p>
            <a:pPr indent="0" marL="0">
              <a:spcAft>
                <a:spcPts val="800"/>
              </a:spcAft>
              <a:buNone/>
            </a:pPr>
            <a:r>
              <a:rPr lang="en-US" sz="1500" dirty="0">
                <a:solidFill>
                  <a:srgbClr val="4A5460"/>
                </a:solidFill>
                <a:latin typeface="Calibri" pitchFamily="34" charset="0"/>
                <a:ea typeface="Calibri" pitchFamily="34" charset="-122"/>
                <a:cs typeface="Calibri" pitchFamily="34" charset="-120"/>
              </a:rPr>
              <a:t>Vitalis is a healthcare analytics project that analyses patient, financial, and operational data using Power BI dashboards. The objective is to understand patient demographics, service utilisation, financial performance, and operational efficiency across multiple clinic locations and medical specialties.</a:t>
            </a:r>
            <a:endParaRPr lang="en-US" sz="1500" dirty="0"/>
          </a:p>
        </p:txBody>
      </p:sp>
      <p:sp>
        <p:nvSpPr>
          <p:cNvPr id="5" name="Text 3"/>
          <p:cNvSpPr/>
          <p:nvPr/>
        </p:nvSpPr>
        <p:spPr>
          <a:xfrm>
            <a:off x="457200" y="4023360"/>
            <a:ext cx="6858000" cy="1280160"/>
          </a:xfrm>
          <a:prstGeom prst="rect">
            <a:avLst/>
          </a:prstGeom>
          <a:noFill/>
          <a:ln/>
        </p:spPr>
        <p:txBody>
          <a:bodyPr wrap="square" lIns="0" tIns="0" rIns="0" bIns="0" rtlCol="0" anchor="t"/>
          <a:lstStyle/>
          <a:p>
            <a:pPr indent="0" marL="0">
              <a:buNone/>
            </a:pPr>
            <a:r>
              <a:rPr lang="en-US" sz="1500" i="1" dirty="0">
                <a:solidFill>
                  <a:srgbClr val="4A5460"/>
                </a:solidFill>
                <a:latin typeface="Calibri" pitchFamily="34" charset="0"/>
                <a:ea typeface="Calibri" pitchFamily="34" charset="-122"/>
                <a:cs typeface="Calibri" pitchFamily="34" charset="-120"/>
              </a:rPr>
              <a:t>The project transforms raw healthcare data into meaningful insights that can support better decision-making and improved healthcare service delivery.</a:t>
            </a:r>
            <a:endParaRPr lang="en-US" sz="1500" dirty="0"/>
          </a:p>
        </p:txBody>
      </p:sp>
      <p:sp>
        <p:nvSpPr>
          <p:cNvPr id="6" name="Shape 4"/>
          <p:cNvSpPr/>
          <p:nvPr/>
        </p:nvSpPr>
        <p:spPr>
          <a:xfrm>
            <a:off x="7863840" y="1828800"/>
            <a:ext cx="3931920" cy="4206240"/>
          </a:xfrm>
          <a:prstGeom prst="roundRect">
            <a:avLst>
              <a:gd name="adj" fmla="val 3488"/>
            </a:avLst>
          </a:prstGeom>
          <a:solidFill>
            <a:srgbClr val="1A2530"/>
          </a:solidFill>
          <a:ln w="12700">
            <a:solidFill>
              <a:srgbClr val="1A2530"/>
            </a:solidFill>
            <a:prstDash val="solid"/>
          </a:ln>
        </p:spPr>
      </p:sp>
      <p:sp>
        <p:nvSpPr>
          <p:cNvPr id="7" name="Text 5"/>
          <p:cNvSpPr/>
          <p:nvPr/>
        </p:nvSpPr>
        <p:spPr>
          <a:xfrm>
            <a:off x="8138160" y="2011680"/>
            <a:ext cx="3383280" cy="274320"/>
          </a:xfrm>
          <a:prstGeom prst="rect">
            <a:avLst/>
          </a:prstGeom>
          <a:noFill/>
          <a:ln/>
        </p:spPr>
        <p:txBody>
          <a:bodyPr wrap="square" lIns="0" tIns="0" rIns="0" bIns="0" rtlCol="0" anchor="ctr"/>
          <a:lstStyle/>
          <a:p>
            <a:pPr indent="0" marL="0">
              <a:buNone/>
            </a:pPr>
            <a:r>
              <a:rPr lang="en-US" sz="1000" b="1" spc="400" kern="0" dirty="0">
                <a:solidFill>
                  <a:srgbClr val="C2A046"/>
                </a:solidFill>
                <a:latin typeface="Calibri" pitchFamily="34" charset="0"/>
                <a:ea typeface="Calibri" pitchFamily="34" charset="-122"/>
                <a:cs typeface="Calibri" pitchFamily="34" charset="-120"/>
              </a:rPr>
              <a:t>AT A GLANCE</a:t>
            </a:r>
            <a:endParaRPr lang="en-US" sz="1000" dirty="0"/>
          </a:p>
        </p:txBody>
      </p:sp>
      <p:sp>
        <p:nvSpPr>
          <p:cNvPr id="8" name="Text 6"/>
          <p:cNvSpPr/>
          <p:nvPr/>
        </p:nvSpPr>
        <p:spPr>
          <a:xfrm>
            <a:off x="8138160" y="2468880"/>
            <a:ext cx="1645920" cy="502920"/>
          </a:xfrm>
          <a:prstGeom prst="rect">
            <a:avLst/>
          </a:prstGeom>
          <a:noFill/>
          <a:ln/>
        </p:spPr>
        <p:txBody>
          <a:bodyPr wrap="square" lIns="0" tIns="0" rIns="0" bIns="0" rtlCol="0" anchor="ctr"/>
          <a:lstStyle/>
          <a:p>
            <a:pPr indent="0" marL="0">
              <a:buNone/>
            </a:pPr>
            <a:r>
              <a:rPr lang="en-US" sz="2400" b="1" dirty="0">
                <a:solidFill>
                  <a:srgbClr val="F4F1EA"/>
                </a:solidFill>
                <a:latin typeface="Georgia" pitchFamily="34" charset="0"/>
                <a:ea typeface="Georgia" pitchFamily="34" charset="-122"/>
                <a:cs typeface="Georgia" pitchFamily="34" charset="-120"/>
              </a:rPr>
              <a:t>$6M</a:t>
            </a:r>
            <a:endParaRPr lang="en-US" sz="2400" dirty="0"/>
          </a:p>
        </p:txBody>
      </p:sp>
      <p:sp>
        <p:nvSpPr>
          <p:cNvPr id="9" name="Text 7"/>
          <p:cNvSpPr/>
          <p:nvPr/>
        </p:nvSpPr>
        <p:spPr>
          <a:xfrm>
            <a:off x="9784080" y="2606040"/>
            <a:ext cx="1920240" cy="365760"/>
          </a:xfrm>
          <a:prstGeom prst="rect">
            <a:avLst/>
          </a:prstGeom>
          <a:noFill/>
          <a:ln/>
        </p:spPr>
        <p:txBody>
          <a:bodyPr wrap="square" lIns="0" tIns="0" rIns="0" bIns="0" rtlCol="0" anchor="ctr"/>
          <a:lstStyle/>
          <a:p>
            <a:pPr indent="0" marL="0">
              <a:buNone/>
            </a:pPr>
            <a:r>
              <a:rPr lang="en-US" sz="1200" dirty="0">
                <a:solidFill>
                  <a:srgbClr val="7FA38D"/>
                </a:solidFill>
                <a:latin typeface="Calibri" pitchFamily="34" charset="0"/>
                <a:ea typeface="Calibri" pitchFamily="34" charset="-122"/>
                <a:cs typeface="Calibri" pitchFamily="34" charset="-120"/>
              </a:rPr>
              <a:t>Total revenue</a:t>
            </a:r>
            <a:endParaRPr lang="en-US" sz="1200" dirty="0"/>
          </a:p>
        </p:txBody>
      </p:sp>
      <p:sp>
        <p:nvSpPr>
          <p:cNvPr id="10" name="Text 8"/>
          <p:cNvSpPr/>
          <p:nvPr/>
        </p:nvSpPr>
        <p:spPr>
          <a:xfrm>
            <a:off x="8138160" y="3154680"/>
            <a:ext cx="1645920" cy="502920"/>
          </a:xfrm>
          <a:prstGeom prst="rect">
            <a:avLst/>
          </a:prstGeom>
          <a:noFill/>
          <a:ln/>
        </p:spPr>
        <p:txBody>
          <a:bodyPr wrap="square" lIns="0" tIns="0" rIns="0" bIns="0" rtlCol="0" anchor="ctr"/>
          <a:lstStyle/>
          <a:p>
            <a:pPr indent="0" marL="0">
              <a:buNone/>
            </a:pPr>
            <a:r>
              <a:rPr lang="en-US" sz="2400" b="1" dirty="0">
                <a:solidFill>
                  <a:srgbClr val="F4F1EA"/>
                </a:solidFill>
                <a:latin typeface="Georgia" pitchFamily="34" charset="0"/>
                <a:ea typeface="Georgia" pitchFamily="34" charset="-122"/>
                <a:cs typeface="Georgia" pitchFamily="34" charset="-120"/>
              </a:rPr>
              <a:t>5,000</a:t>
            </a:r>
            <a:endParaRPr lang="en-US" sz="2400" dirty="0"/>
          </a:p>
        </p:txBody>
      </p:sp>
      <p:sp>
        <p:nvSpPr>
          <p:cNvPr id="11" name="Text 9"/>
          <p:cNvSpPr/>
          <p:nvPr/>
        </p:nvSpPr>
        <p:spPr>
          <a:xfrm>
            <a:off x="9784080" y="3291840"/>
            <a:ext cx="1920240" cy="365760"/>
          </a:xfrm>
          <a:prstGeom prst="rect">
            <a:avLst/>
          </a:prstGeom>
          <a:noFill/>
          <a:ln/>
        </p:spPr>
        <p:txBody>
          <a:bodyPr wrap="square" lIns="0" tIns="0" rIns="0" bIns="0" rtlCol="0" anchor="ctr"/>
          <a:lstStyle/>
          <a:p>
            <a:pPr indent="0" marL="0">
              <a:buNone/>
            </a:pPr>
            <a:r>
              <a:rPr lang="en-US" sz="1200" dirty="0">
                <a:solidFill>
                  <a:srgbClr val="7FA38D"/>
                </a:solidFill>
                <a:latin typeface="Calibri" pitchFamily="34" charset="0"/>
                <a:ea typeface="Calibri" pitchFamily="34" charset="-122"/>
                <a:cs typeface="Calibri" pitchFamily="34" charset="-120"/>
              </a:rPr>
              <a:t>Patients</a:t>
            </a:r>
            <a:endParaRPr lang="en-US" sz="1200" dirty="0"/>
          </a:p>
        </p:txBody>
      </p:sp>
      <p:sp>
        <p:nvSpPr>
          <p:cNvPr id="12" name="Text 10"/>
          <p:cNvSpPr/>
          <p:nvPr/>
        </p:nvSpPr>
        <p:spPr>
          <a:xfrm>
            <a:off x="8138160" y="3840480"/>
            <a:ext cx="1645920" cy="502920"/>
          </a:xfrm>
          <a:prstGeom prst="rect">
            <a:avLst/>
          </a:prstGeom>
          <a:noFill/>
          <a:ln/>
        </p:spPr>
        <p:txBody>
          <a:bodyPr wrap="square" lIns="0" tIns="0" rIns="0" bIns="0" rtlCol="0" anchor="ctr"/>
          <a:lstStyle/>
          <a:p>
            <a:pPr indent="0" marL="0">
              <a:buNone/>
            </a:pPr>
            <a:r>
              <a:rPr lang="en-US" sz="2400" b="1" dirty="0">
                <a:solidFill>
                  <a:srgbClr val="F4F1EA"/>
                </a:solidFill>
                <a:latin typeface="Georgia" pitchFamily="34" charset="0"/>
                <a:ea typeface="Georgia" pitchFamily="34" charset="-122"/>
                <a:cs typeface="Georgia" pitchFamily="34" charset="-120"/>
              </a:rPr>
              <a:t>20,000</a:t>
            </a:r>
            <a:endParaRPr lang="en-US" sz="2400" dirty="0"/>
          </a:p>
        </p:txBody>
      </p:sp>
      <p:sp>
        <p:nvSpPr>
          <p:cNvPr id="13" name="Text 11"/>
          <p:cNvSpPr/>
          <p:nvPr/>
        </p:nvSpPr>
        <p:spPr>
          <a:xfrm>
            <a:off x="9784080" y="3977640"/>
            <a:ext cx="1920240" cy="365760"/>
          </a:xfrm>
          <a:prstGeom prst="rect">
            <a:avLst/>
          </a:prstGeom>
          <a:noFill/>
          <a:ln/>
        </p:spPr>
        <p:txBody>
          <a:bodyPr wrap="square" lIns="0" tIns="0" rIns="0" bIns="0" rtlCol="0" anchor="ctr"/>
          <a:lstStyle/>
          <a:p>
            <a:pPr indent="0" marL="0">
              <a:buNone/>
            </a:pPr>
            <a:r>
              <a:rPr lang="en-US" sz="1200" dirty="0">
                <a:solidFill>
                  <a:srgbClr val="7FA38D"/>
                </a:solidFill>
                <a:latin typeface="Calibri" pitchFamily="34" charset="0"/>
                <a:ea typeface="Calibri" pitchFamily="34" charset="-122"/>
                <a:cs typeface="Calibri" pitchFamily="34" charset="-120"/>
              </a:rPr>
              <a:t>Appointments</a:t>
            </a:r>
            <a:endParaRPr lang="en-US" sz="1200" dirty="0"/>
          </a:p>
        </p:txBody>
      </p:sp>
      <p:sp>
        <p:nvSpPr>
          <p:cNvPr id="14" name="Text 12"/>
          <p:cNvSpPr/>
          <p:nvPr/>
        </p:nvSpPr>
        <p:spPr>
          <a:xfrm>
            <a:off x="8138160" y="4526280"/>
            <a:ext cx="1645920" cy="502920"/>
          </a:xfrm>
          <a:prstGeom prst="rect">
            <a:avLst/>
          </a:prstGeom>
          <a:noFill/>
          <a:ln/>
        </p:spPr>
        <p:txBody>
          <a:bodyPr wrap="square" lIns="0" tIns="0" rIns="0" bIns="0" rtlCol="0" anchor="ctr"/>
          <a:lstStyle/>
          <a:p>
            <a:pPr indent="0" marL="0">
              <a:buNone/>
            </a:pPr>
            <a:r>
              <a:rPr lang="en-US" sz="2400" b="1" dirty="0">
                <a:solidFill>
                  <a:srgbClr val="F4F1EA"/>
                </a:solidFill>
                <a:latin typeface="Georgia" pitchFamily="34" charset="0"/>
                <a:ea typeface="Georgia" pitchFamily="34" charset="-122"/>
                <a:cs typeface="Georgia" pitchFamily="34" charset="-120"/>
              </a:rPr>
              <a:t>15,000</a:t>
            </a:r>
            <a:endParaRPr lang="en-US" sz="2400" dirty="0"/>
          </a:p>
        </p:txBody>
      </p:sp>
      <p:sp>
        <p:nvSpPr>
          <p:cNvPr id="15" name="Text 13"/>
          <p:cNvSpPr/>
          <p:nvPr/>
        </p:nvSpPr>
        <p:spPr>
          <a:xfrm>
            <a:off x="9784080" y="4663440"/>
            <a:ext cx="1920240" cy="365760"/>
          </a:xfrm>
          <a:prstGeom prst="rect">
            <a:avLst/>
          </a:prstGeom>
          <a:noFill/>
          <a:ln/>
        </p:spPr>
        <p:txBody>
          <a:bodyPr wrap="square" lIns="0" tIns="0" rIns="0" bIns="0" rtlCol="0" anchor="ctr"/>
          <a:lstStyle/>
          <a:p>
            <a:pPr indent="0" marL="0">
              <a:buNone/>
            </a:pPr>
            <a:r>
              <a:rPr lang="en-US" sz="1200" dirty="0">
                <a:solidFill>
                  <a:srgbClr val="7FA38D"/>
                </a:solidFill>
                <a:latin typeface="Calibri" pitchFamily="34" charset="0"/>
                <a:ea typeface="Calibri" pitchFamily="34" charset="-122"/>
                <a:cs typeface="Calibri" pitchFamily="34" charset="-120"/>
              </a:rPr>
              <a:t>Diagnoses</a:t>
            </a:r>
            <a:endParaRPr lang="en-US" sz="1200" dirty="0"/>
          </a:p>
        </p:txBody>
      </p:sp>
      <p:sp>
        <p:nvSpPr>
          <p:cNvPr id="16" name="Text 14"/>
          <p:cNvSpPr/>
          <p:nvPr/>
        </p:nvSpPr>
        <p:spPr>
          <a:xfrm>
            <a:off x="8138160" y="5212080"/>
            <a:ext cx="1645920" cy="502920"/>
          </a:xfrm>
          <a:prstGeom prst="rect">
            <a:avLst/>
          </a:prstGeom>
          <a:noFill/>
          <a:ln/>
        </p:spPr>
        <p:txBody>
          <a:bodyPr wrap="square" lIns="0" tIns="0" rIns="0" bIns="0" rtlCol="0" anchor="ctr"/>
          <a:lstStyle/>
          <a:p>
            <a:pPr indent="0" marL="0">
              <a:buNone/>
            </a:pPr>
            <a:r>
              <a:rPr lang="en-US" sz="2400" b="1" dirty="0">
                <a:solidFill>
                  <a:srgbClr val="F4F1EA"/>
                </a:solidFill>
                <a:latin typeface="Georgia" pitchFamily="34" charset="0"/>
                <a:ea typeface="Georgia" pitchFamily="34" charset="-122"/>
                <a:cs typeface="Georgia" pitchFamily="34" charset="-120"/>
              </a:rPr>
              <a:t>5</a:t>
            </a:r>
            <a:endParaRPr lang="en-US" sz="2400" dirty="0"/>
          </a:p>
        </p:txBody>
      </p:sp>
      <p:sp>
        <p:nvSpPr>
          <p:cNvPr id="17" name="Text 15"/>
          <p:cNvSpPr/>
          <p:nvPr/>
        </p:nvSpPr>
        <p:spPr>
          <a:xfrm>
            <a:off x="9784080" y="5349240"/>
            <a:ext cx="1920240" cy="365760"/>
          </a:xfrm>
          <a:prstGeom prst="rect">
            <a:avLst/>
          </a:prstGeom>
          <a:noFill/>
          <a:ln/>
        </p:spPr>
        <p:txBody>
          <a:bodyPr wrap="square" lIns="0" tIns="0" rIns="0" bIns="0" rtlCol="0" anchor="ctr"/>
          <a:lstStyle/>
          <a:p>
            <a:pPr indent="0" marL="0">
              <a:buNone/>
            </a:pPr>
            <a:r>
              <a:rPr lang="en-US" sz="1200" dirty="0">
                <a:solidFill>
                  <a:srgbClr val="7FA38D"/>
                </a:solidFill>
                <a:latin typeface="Calibri" pitchFamily="34" charset="0"/>
                <a:ea typeface="Calibri" pitchFamily="34" charset="-122"/>
                <a:cs typeface="Calibri" pitchFamily="34" charset="-120"/>
              </a:rPr>
              <a:t>Clinics</a:t>
            </a:r>
            <a:endParaRPr lang="en-US" sz="1200" dirty="0"/>
          </a:p>
        </p:txBody>
      </p:sp>
      <p:sp>
        <p:nvSpPr>
          <p:cNvPr id="18" name="Text 16"/>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8A8275"/>
                </a:solidFill>
                <a:latin typeface="Calibri" pitchFamily="34" charset="0"/>
                <a:ea typeface="Calibri" pitchFamily="34" charset="-122"/>
                <a:cs typeface="Calibri" pitchFamily="34" charset="-120"/>
              </a:rPr>
              <a:t>2 / 14</a:t>
            </a:r>
            <a:endParaRPr lang="en-US" sz="900" dirty="0"/>
          </a:p>
        </p:txBody>
      </p:sp>
      <p:sp>
        <p:nvSpPr>
          <p:cNvPr id="19" name="Text 17"/>
          <p:cNvSpPr/>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8A8275"/>
                </a:solidFill>
                <a:latin typeface="Calibri" pitchFamily="34" charset="0"/>
                <a:ea typeface="Calibri" pitchFamily="34" charset="-122"/>
                <a:cs typeface="Calibri" pitchFamily="34" charset="-120"/>
              </a:rPr>
              <a:t>Vitalis Healthcare Project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02 · OVERVIEW</a:t>
            </a:r>
            <a:endParaRPr lang="en-US" sz="1000" dirty="0"/>
          </a:p>
        </p:txBody>
      </p:sp>
      <p:sp>
        <p:nvSpPr>
          <p:cNvPr id="3" name="Text 1"/>
          <p:cNvSpPr/>
          <p:nvPr/>
        </p:nvSpPr>
        <p:spPr>
          <a:xfrm>
            <a:off x="457200" y="822960"/>
            <a:ext cx="10972800" cy="640080"/>
          </a:xfrm>
          <a:prstGeom prst="rect">
            <a:avLst/>
          </a:prstGeom>
          <a:noFill/>
          <a:ln/>
        </p:spPr>
        <p:txBody>
          <a:bodyPr wrap="square" lIns="0" tIns="0" rIns="0" bIns="0" rtlCol="0" anchor="ctr"/>
          <a:lstStyle/>
          <a:p>
            <a:pPr indent="0" marL="0">
              <a:buNone/>
            </a:pPr>
            <a:r>
              <a:rPr lang="en-US" sz="3600" b="1" dirty="0">
                <a:solidFill>
                  <a:srgbClr val="1A2530"/>
                </a:solidFill>
                <a:latin typeface="Georgia" pitchFamily="34" charset="0"/>
                <a:ea typeface="Georgia" pitchFamily="34" charset="-122"/>
                <a:cs typeface="Georgia" pitchFamily="34" charset="-120"/>
              </a:rPr>
              <a:t>What the dashboards cover</a:t>
            </a:r>
            <a:endParaRPr lang="en-US" sz="3600" dirty="0"/>
          </a:p>
        </p:txBody>
      </p:sp>
      <p:sp>
        <p:nvSpPr>
          <p:cNvPr id="4" name="Text 2"/>
          <p:cNvSpPr/>
          <p:nvPr/>
        </p:nvSpPr>
        <p:spPr>
          <a:xfrm>
            <a:off x="457200" y="1600200"/>
            <a:ext cx="10972800" cy="548640"/>
          </a:xfrm>
          <a:prstGeom prst="rect">
            <a:avLst/>
          </a:prstGeom>
          <a:noFill/>
          <a:ln/>
        </p:spPr>
        <p:txBody>
          <a:bodyPr wrap="square" lIns="0" tIns="0" rIns="0" bIns="0" rtlCol="0" anchor="ctr"/>
          <a:lstStyle/>
          <a:p>
            <a:pPr indent="0" marL="0">
              <a:buNone/>
            </a:pPr>
            <a:r>
              <a:rPr lang="en-US" sz="1300" i="1" dirty="0">
                <a:solidFill>
                  <a:srgbClr val="4A5460"/>
                </a:solidFill>
                <a:latin typeface="Calibri" pitchFamily="34" charset="0"/>
                <a:ea typeface="Calibri" pitchFamily="34" charset="-122"/>
                <a:cs typeface="Calibri" pitchFamily="34" charset="-120"/>
              </a:rPr>
              <a:t>Five comprehensive views built on the same underlying data — each one designed to answer a different question about the practice.</a:t>
            </a:r>
            <a:endParaRPr lang="en-US" sz="1300" dirty="0"/>
          </a:p>
        </p:txBody>
      </p:sp>
      <p:sp>
        <p:nvSpPr>
          <p:cNvPr id="5" name="Shape 3"/>
          <p:cNvSpPr/>
          <p:nvPr/>
        </p:nvSpPr>
        <p:spPr>
          <a:xfrm>
            <a:off x="457200" y="2331720"/>
            <a:ext cx="3657600" cy="1783080"/>
          </a:xfrm>
          <a:prstGeom prst="roundRect">
            <a:avLst>
              <a:gd name="adj" fmla="val 6154"/>
            </a:avLst>
          </a:prstGeom>
          <a:solidFill>
            <a:srgbClr val="FBF9F4"/>
          </a:solidFill>
          <a:ln w="12700">
            <a:solidFill>
              <a:srgbClr val="D9D2BF"/>
            </a:solidFill>
            <a:prstDash val="solid"/>
          </a:ln>
        </p:spPr>
      </p:sp>
      <p:sp>
        <p:nvSpPr>
          <p:cNvPr id="6" name="Shape 4"/>
          <p:cNvSpPr/>
          <p:nvPr/>
        </p:nvSpPr>
        <p:spPr>
          <a:xfrm>
            <a:off x="731520" y="2560320"/>
            <a:ext cx="457200" cy="45720"/>
          </a:xfrm>
          <a:prstGeom prst="rect">
            <a:avLst/>
          </a:prstGeom>
          <a:solidFill>
            <a:srgbClr val="3D6655"/>
          </a:solidFill>
          <a:ln w="12700">
            <a:solidFill>
              <a:srgbClr val="3D6655"/>
            </a:solidFill>
            <a:prstDash val="solid"/>
          </a:ln>
        </p:spPr>
      </p:sp>
      <p:sp>
        <p:nvSpPr>
          <p:cNvPr id="7" name="Text 5"/>
          <p:cNvSpPr/>
          <p:nvPr/>
        </p:nvSpPr>
        <p:spPr>
          <a:xfrm>
            <a:off x="731520" y="2697480"/>
            <a:ext cx="3108960" cy="274320"/>
          </a:xfrm>
          <a:prstGeom prst="rect">
            <a:avLst/>
          </a:prstGeom>
          <a:noFill/>
          <a:ln/>
        </p:spPr>
        <p:txBody>
          <a:bodyPr wrap="square" lIns="0" tIns="0" rIns="0" bIns="0" rtlCol="0" anchor="ctr"/>
          <a:lstStyle/>
          <a:p>
            <a:pPr indent="0" marL="0">
              <a:buNone/>
            </a:pPr>
            <a:r>
              <a:rPr lang="en-US" sz="900" b="1" spc="300" kern="0" dirty="0">
                <a:solidFill>
                  <a:srgbClr val="3D6655"/>
                </a:solidFill>
                <a:latin typeface="Calibri" pitchFamily="34" charset="0"/>
                <a:ea typeface="Calibri" pitchFamily="34" charset="-122"/>
                <a:cs typeface="Calibri" pitchFamily="34" charset="-120"/>
              </a:rPr>
              <a:t>FINANCIAL</a:t>
            </a:r>
            <a:endParaRPr lang="en-US" sz="900" dirty="0"/>
          </a:p>
        </p:txBody>
      </p:sp>
      <p:sp>
        <p:nvSpPr>
          <p:cNvPr id="8" name="Text 6"/>
          <p:cNvSpPr/>
          <p:nvPr/>
        </p:nvSpPr>
        <p:spPr>
          <a:xfrm>
            <a:off x="731520" y="2971800"/>
            <a:ext cx="3108960" cy="411480"/>
          </a:xfrm>
          <a:prstGeom prst="rect">
            <a:avLst/>
          </a:prstGeom>
          <a:noFill/>
          <a:ln/>
        </p:spPr>
        <p:txBody>
          <a:bodyPr wrap="square" lIns="0" tIns="0" rIns="0" bIns="0" rtlCol="0" anchor="ctr"/>
          <a:lstStyle/>
          <a:p>
            <a:pPr indent="0" marL="0">
              <a:buNone/>
            </a:pPr>
            <a:r>
              <a:rPr lang="en-US" sz="2000" b="1" dirty="0">
                <a:solidFill>
                  <a:srgbClr val="1A2530"/>
                </a:solidFill>
                <a:latin typeface="Georgia" pitchFamily="34" charset="0"/>
                <a:ea typeface="Georgia" pitchFamily="34" charset="-122"/>
                <a:cs typeface="Georgia" pitchFamily="34" charset="-120"/>
              </a:rPr>
              <a:t>Money</a:t>
            </a:r>
            <a:endParaRPr lang="en-US" sz="2000" dirty="0"/>
          </a:p>
        </p:txBody>
      </p:sp>
      <p:sp>
        <p:nvSpPr>
          <p:cNvPr id="9" name="Text 7"/>
          <p:cNvSpPr/>
          <p:nvPr/>
        </p:nvSpPr>
        <p:spPr>
          <a:xfrm>
            <a:off x="731520" y="3429000"/>
            <a:ext cx="3108960" cy="640080"/>
          </a:xfrm>
          <a:prstGeom prst="rect">
            <a:avLst/>
          </a:prstGeom>
          <a:noFill/>
          <a:ln/>
        </p:spPr>
        <p:txBody>
          <a:bodyPr wrap="square" lIns="0" tIns="0" rIns="0" bIns="0" rtlCol="0" anchor="t"/>
          <a:lstStyle/>
          <a:p>
            <a:pPr indent="0" marL="0">
              <a:buNone/>
            </a:pPr>
            <a:r>
              <a:rPr lang="en-US" sz="1100" dirty="0">
                <a:solidFill>
                  <a:srgbClr val="4A5460"/>
                </a:solidFill>
                <a:latin typeface="Calibri" pitchFamily="34" charset="0"/>
                <a:ea typeface="Calibri" pitchFamily="34" charset="-122"/>
                <a:cs typeface="Calibri" pitchFamily="34" charset="-120"/>
              </a:rPr>
              <a:t>Total revenue (~$6M), patient payments (~$3M), revenue by location, by specialty, by age group.</a:t>
            </a:r>
            <a:endParaRPr lang="en-US" sz="1100" dirty="0"/>
          </a:p>
        </p:txBody>
      </p:sp>
      <p:sp>
        <p:nvSpPr>
          <p:cNvPr id="10" name="Shape 8"/>
          <p:cNvSpPr/>
          <p:nvPr/>
        </p:nvSpPr>
        <p:spPr>
          <a:xfrm>
            <a:off x="4361688" y="2331720"/>
            <a:ext cx="3657600" cy="1783080"/>
          </a:xfrm>
          <a:prstGeom prst="roundRect">
            <a:avLst>
              <a:gd name="adj" fmla="val 6154"/>
            </a:avLst>
          </a:prstGeom>
          <a:solidFill>
            <a:srgbClr val="FBF9F4"/>
          </a:solidFill>
          <a:ln w="12700">
            <a:solidFill>
              <a:srgbClr val="D9D2BF"/>
            </a:solidFill>
            <a:prstDash val="solid"/>
          </a:ln>
        </p:spPr>
      </p:sp>
      <p:sp>
        <p:nvSpPr>
          <p:cNvPr id="11" name="Shape 9"/>
          <p:cNvSpPr/>
          <p:nvPr/>
        </p:nvSpPr>
        <p:spPr>
          <a:xfrm>
            <a:off x="4636008" y="2560320"/>
            <a:ext cx="457200" cy="45720"/>
          </a:xfrm>
          <a:prstGeom prst="rect">
            <a:avLst/>
          </a:prstGeom>
          <a:solidFill>
            <a:srgbClr val="5F7FAA"/>
          </a:solidFill>
          <a:ln w="12700">
            <a:solidFill>
              <a:srgbClr val="5F7FAA"/>
            </a:solidFill>
            <a:prstDash val="solid"/>
          </a:ln>
        </p:spPr>
      </p:sp>
      <p:sp>
        <p:nvSpPr>
          <p:cNvPr id="12" name="Text 10"/>
          <p:cNvSpPr/>
          <p:nvPr/>
        </p:nvSpPr>
        <p:spPr>
          <a:xfrm>
            <a:off x="4636008" y="2697480"/>
            <a:ext cx="3108960" cy="274320"/>
          </a:xfrm>
          <a:prstGeom prst="rect">
            <a:avLst/>
          </a:prstGeom>
          <a:noFill/>
          <a:ln/>
        </p:spPr>
        <p:txBody>
          <a:bodyPr wrap="square" lIns="0" tIns="0" rIns="0" bIns="0" rtlCol="0" anchor="ctr"/>
          <a:lstStyle/>
          <a:p>
            <a:pPr indent="0" marL="0">
              <a:buNone/>
            </a:pPr>
            <a:r>
              <a:rPr lang="en-US" sz="900" b="1" spc="300" kern="0" dirty="0">
                <a:solidFill>
                  <a:srgbClr val="5F7FAA"/>
                </a:solidFill>
                <a:latin typeface="Calibri" pitchFamily="34" charset="0"/>
                <a:ea typeface="Calibri" pitchFamily="34" charset="-122"/>
                <a:cs typeface="Calibri" pitchFamily="34" charset="-120"/>
              </a:rPr>
              <a:t>GEOGRAPHIC</a:t>
            </a:r>
            <a:endParaRPr lang="en-US" sz="900" dirty="0"/>
          </a:p>
        </p:txBody>
      </p:sp>
      <p:sp>
        <p:nvSpPr>
          <p:cNvPr id="13" name="Text 11"/>
          <p:cNvSpPr/>
          <p:nvPr/>
        </p:nvSpPr>
        <p:spPr>
          <a:xfrm>
            <a:off x="4636008" y="2971800"/>
            <a:ext cx="3108960" cy="411480"/>
          </a:xfrm>
          <a:prstGeom prst="rect">
            <a:avLst/>
          </a:prstGeom>
          <a:noFill/>
          <a:ln/>
        </p:spPr>
        <p:txBody>
          <a:bodyPr wrap="square" lIns="0" tIns="0" rIns="0" bIns="0" rtlCol="0" anchor="ctr"/>
          <a:lstStyle/>
          <a:p>
            <a:pPr indent="0" marL="0">
              <a:buNone/>
            </a:pPr>
            <a:r>
              <a:rPr lang="en-US" sz="2000" b="1" dirty="0">
                <a:solidFill>
                  <a:srgbClr val="1A2530"/>
                </a:solidFill>
                <a:latin typeface="Georgia" pitchFamily="34" charset="0"/>
                <a:ea typeface="Georgia" pitchFamily="34" charset="-122"/>
                <a:cs typeface="Georgia" pitchFamily="34" charset="-120"/>
              </a:rPr>
              <a:t>Place</a:t>
            </a:r>
            <a:endParaRPr lang="en-US" sz="2000" dirty="0"/>
          </a:p>
        </p:txBody>
      </p:sp>
      <p:sp>
        <p:nvSpPr>
          <p:cNvPr id="14" name="Text 12"/>
          <p:cNvSpPr/>
          <p:nvPr/>
        </p:nvSpPr>
        <p:spPr>
          <a:xfrm>
            <a:off x="4636008" y="3429000"/>
            <a:ext cx="3108960" cy="640080"/>
          </a:xfrm>
          <a:prstGeom prst="rect">
            <a:avLst/>
          </a:prstGeom>
          <a:noFill/>
          <a:ln/>
        </p:spPr>
        <p:txBody>
          <a:bodyPr wrap="square" lIns="0" tIns="0" rIns="0" bIns="0" rtlCol="0" anchor="t"/>
          <a:lstStyle/>
          <a:p>
            <a:pPr indent="0" marL="0">
              <a:buNone/>
            </a:pPr>
            <a:r>
              <a:rPr lang="en-US" sz="1100" dirty="0">
                <a:solidFill>
                  <a:srgbClr val="4A5460"/>
                </a:solidFill>
                <a:latin typeface="Calibri" pitchFamily="34" charset="0"/>
                <a:ea typeface="Calibri" pitchFamily="34" charset="-122"/>
                <a:cs typeface="Calibri" pitchFamily="34" charset="-120"/>
              </a:rPr>
              <a:t>Patient distribution across Seattle, Spokane, Tacoma, Portland, and Olympia.</a:t>
            </a:r>
            <a:endParaRPr lang="en-US" sz="1100" dirty="0"/>
          </a:p>
        </p:txBody>
      </p:sp>
      <p:sp>
        <p:nvSpPr>
          <p:cNvPr id="15" name="Shape 13"/>
          <p:cNvSpPr/>
          <p:nvPr/>
        </p:nvSpPr>
        <p:spPr>
          <a:xfrm>
            <a:off x="8266176" y="2331720"/>
            <a:ext cx="3657600" cy="1783080"/>
          </a:xfrm>
          <a:prstGeom prst="roundRect">
            <a:avLst>
              <a:gd name="adj" fmla="val 6154"/>
            </a:avLst>
          </a:prstGeom>
          <a:solidFill>
            <a:srgbClr val="FBF9F4"/>
          </a:solidFill>
          <a:ln w="12700">
            <a:solidFill>
              <a:srgbClr val="D9D2BF"/>
            </a:solidFill>
            <a:prstDash val="solid"/>
          </a:ln>
        </p:spPr>
      </p:sp>
      <p:sp>
        <p:nvSpPr>
          <p:cNvPr id="16" name="Shape 14"/>
          <p:cNvSpPr/>
          <p:nvPr/>
        </p:nvSpPr>
        <p:spPr>
          <a:xfrm>
            <a:off x="8540496" y="2560320"/>
            <a:ext cx="457200" cy="45720"/>
          </a:xfrm>
          <a:prstGeom prst="rect">
            <a:avLst/>
          </a:prstGeom>
          <a:solidFill>
            <a:srgbClr val="D9603F"/>
          </a:solidFill>
          <a:ln w="12700">
            <a:solidFill>
              <a:srgbClr val="D9603F"/>
            </a:solidFill>
            <a:prstDash val="solid"/>
          </a:ln>
        </p:spPr>
      </p:sp>
      <p:sp>
        <p:nvSpPr>
          <p:cNvPr id="17" name="Text 15"/>
          <p:cNvSpPr/>
          <p:nvPr/>
        </p:nvSpPr>
        <p:spPr>
          <a:xfrm>
            <a:off x="8540496" y="2697480"/>
            <a:ext cx="3108960" cy="274320"/>
          </a:xfrm>
          <a:prstGeom prst="rect">
            <a:avLst/>
          </a:prstGeom>
          <a:noFill/>
          <a:ln/>
        </p:spPr>
        <p:txBody>
          <a:bodyPr wrap="square" lIns="0" tIns="0" rIns="0" bIns="0" rtlCol="0" anchor="ctr"/>
          <a:lstStyle/>
          <a:p>
            <a:pPr indent="0" marL="0">
              <a:buNone/>
            </a:pPr>
            <a:r>
              <a:rPr lang="en-US" sz="900" b="1" spc="300" kern="0" dirty="0">
                <a:solidFill>
                  <a:srgbClr val="D9603F"/>
                </a:solidFill>
                <a:latin typeface="Calibri" pitchFamily="34" charset="0"/>
                <a:ea typeface="Calibri" pitchFamily="34" charset="-122"/>
                <a:cs typeface="Calibri" pitchFamily="34" charset="-120"/>
              </a:rPr>
              <a:t>CLINICAL</a:t>
            </a:r>
            <a:endParaRPr lang="en-US" sz="900" dirty="0"/>
          </a:p>
        </p:txBody>
      </p:sp>
      <p:sp>
        <p:nvSpPr>
          <p:cNvPr id="18" name="Text 16"/>
          <p:cNvSpPr/>
          <p:nvPr/>
        </p:nvSpPr>
        <p:spPr>
          <a:xfrm>
            <a:off x="8540496" y="2971800"/>
            <a:ext cx="3108960" cy="411480"/>
          </a:xfrm>
          <a:prstGeom prst="rect">
            <a:avLst/>
          </a:prstGeom>
          <a:noFill/>
          <a:ln/>
        </p:spPr>
        <p:txBody>
          <a:bodyPr wrap="square" lIns="0" tIns="0" rIns="0" bIns="0" rtlCol="0" anchor="ctr"/>
          <a:lstStyle/>
          <a:p>
            <a:pPr indent="0" marL="0">
              <a:buNone/>
            </a:pPr>
            <a:r>
              <a:rPr lang="en-US" sz="2000" b="1" dirty="0">
                <a:solidFill>
                  <a:srgbClr val="1A2530"/>
                </a:solidFill>
                <a:latin typeface="Georgia" pitchFamily="34" charset="0"/>
                <a:ea typeface="Georgia" pitchFamily="34" charset="-122"/>
                <a:cs typeface="Georgia" pitchFamily="34" charset="-120"/>
              </a:rPr>
              <a:t>Specialty</a:t>
            </a:r>
            <a:endParaRPr lang="en-US" sz="2000" dirty="0"/>
          </a:p>
        </p:txBody>
      </p:sp>
      <p:sp>
        <p:nvSpPr>
          <p:cNvPr id="19" name="Text 17"/>
          <p:cNvSpPr/>
          <p:nvPr/>
        </p:nvSpPr>
        <p:spPr>
          <a:xfrm>
            <a:off x="8540496" y="3429000"/>
            <a:ext cx="3108960" cy="640080"/>
          </a:xfrm>
          <a:prstGeom prst="rect">
            <a:avLst/>
          </a:prstGeom>
          <a:noFill/>
          <a:ln/>
        </p:spPr>
        <p:txBody>
          <a:bodyPr wrap="square" lIns="0" tIns="0" rIns="0" bIns="0" rtlCol="0" anchor="t"/>
          <a:lstStyle/>
          <a:p>
            <a:pPr indent="0" marL="0">
              <a:buNone/>
            </a:pPr>
            <a:r>
              <a:rPr lang="en-US" sz="1100" dirty="0">
                <a:solidFill>
                  <a:srgbClr val="4A5460"/>
                </a:solidFill>
                <a:latin typeface="Calibri" pitchFamily="34" charset="0"/>
                <a:ea typeface="Calibri" pitchFamily="34" charset="-122"/>
                <a:cs typeface="Calibri" pitchFamily="34" charset="-120"/>
              </a:rPr>
              <a:t>Appointment activity and revenue by Orthopedics, Cardiology, Oncology, Neurology, Pediatrics, General Medicine.</a:t>
            </a:r>
            <a:endParaRPr lang="en-US" sz="1100" dirty="0"/>
          </a:p>
        </p:txBody>
      </p:sp>
      <p:sp>
        <p:nvSpPr>
          <p:cNvPr id="20" name="Shape 18"/>
          <p:cNvSpPr/>
          <p:nvPr/>
        </p:nvSpPr>
        <p:spPr>
          <a:xfrm>
            <a:off x="457200" y="4297680"/>
            <a:ext cx="3657600" cy="1783080"/>
          </a:xfrm>
          <a:prstGeom prst="roundRect">
            <a:avLst>
              <a:gd name="adj" fmla="val 6154"/>
            </a:avLst>
          </a:prstGeom>
          <a:solidFill>
            <a:srgbClr val="FBF9F4"/>
          </a:solidFill>
          <a:ln w="12700">
            <a:solidFill>
              <a:srgbClr val="D9D2BF"/>
            </a:solidFill>
            <a:prstDash val="solid"/>
          </a:ln>
        </p:spPr>
      </p:sp>
      <p:sp>
        <p:nvSpPr>
          <p:cNvPr id="21" name="Shape 19"/>
          <p:cNvSpPr/>
          <p:nvPr/>
        </p:nvSpPr>
        <p:spPr>
          <a:xfrm>
            <a:off x="731520" y="4526280"/>
            <a:ext cx="457200" cy="45720"/>
          </a:xfrm>
          <a:prstGeom prst="rect">
            <a:avLst/>
          </a:prstGeom>
          <a:solidFill>
            <a:srgbClr val="C2A046"/>
          </a:solidFill>
          <a:ln w="12700">
            <a:solidFill>
              <a:srgbClr val="C2A046"/>
            </a:solidFill>
            <a:prstDash val="solid"/>
          </a:ln>
        </p:spPr>
      </p:sp>
      <p:sp>
        <p:nvSpPr>
          <p:cNvPr id="22" name="Text 20"/>
          <p:cNvSpPr/>
          <p:nvPr/>
        </p:nvSpPr>
        <p:spPr>
          <a:xfrm>
            <a:off x="731520" y="4663440"/>
            <a:ext cx="3108960" cy="274320"/>
          </a:xfrm>
          <a:prstGeom prst="rect">
            <a:avLst/>
          </a:prstGeom>
          <a:noFill/>
          <a:ln/>
        </p:spPr>
        <p:txBody>
          <a:bodyPr wrap="square" lIns="0" tIns="0" rIns="0" bIns="0" rtlCol="0" anchor="ctr"/>
          <a:lstStyle/>
          <a:p>
            <a:pPr indent="0" marL="0">
              <a:buNone/>
            </a:pPr>
            <a:r>
              <a:rPr lang="en-US" sz="900" b="1" spc="300" kern="0" dirty="0">
                <a:solidFill>
                  <a:srgbClr val="C2A046"/>
                </a:solidFill>
                <a:latin typeface="Calibri" pitchFamily="34" charset="0"/>
                <a:ea typeface="Calibri" pitchFamily="34" charset="-122"/>
                <a:cs typeface="Calibri" pitchFamily="34" charset="-120"/>
              </a:rPr>
              <a:t>DEMOGRAPHIC</a:t>
            </a:r>
            <a:endParaRPr lang="en-US" sz="900" dirty="0"/>
          </a:p>
        </p:txBody>
      </p:sp>
      <p:sp>
        <p:nvSpPr>
          <p:cNvPr id="23" name="Text 21"/>
          <p:cNvSpPr/>
          <p:nvPr/>
        </p:nvSpPr>
        <p:spPr>
          <a:xfrm>
            <a:off x="731520" y="4937760"/>
            <a:ext cx="3108960" cy="411480"/>
          </a:xfrm>
          <a:prstGeom prst="rect">
            <a:avLst/>
          </a:prstGeom>
          <a:noFill/>
          <a:ln/>
        </p:spPr>
        <p:txBody>
          <a:bodyPr wrap="square" lIns="0" tIns="0" rIns="0" bIns="0" rtlCol="0" anchor="ctr"/>
          <a:lstStyle/>
          <a:p>
            <a:pPr indent="0" marL="0">
              <a:buNone/>
            </a:pPr>
            <a:r>
              <a:rPr lang="en-US" sz="2000" b="1" dirty="0">
                <a:solidFill>
                  <a:srgbClr val="1A2530"/>
                </a:solidFill>
                <a:latin typeface="Georgia" pitchFamily="34" charset="0"/>
                <a:ea typeface="Georgia" pitchFamily="34" charset="-122"/>
                <a:cs typeface="Georgia" pitchFamily="34" charset="-120"/>
              </a:rPr>
              <a:t>People</a:t>
            </a:r>
            <a:endParaRPr lang="en-US" sz="2000" dirty="0"/>
          </a:p>
        </p:txBody>
      </p:sp>
      <p:sp>
        <p:nvSpPr>
          <p:cNvPr id="24" name="Text 22"/>
          <p:cNvSpPr/>
          <p:nvPr/>
        </p:nvSpPr>
        <p:spPr>
          <a:xfrm>
            <a:off x="731520" y="5394960"/>
            <a:ext cx="3108960" cy="640080"/>
          </a:xfrm>
          <a:prstGeom prst="rect">
            <a:avLst/>
          </a:prstGeom>
          <a:noFill/>
          <a:ln/>
        </p:spPr>
        <p:txBody>
          <a:bodyPr wrap="square" lIns="0" tIns="0" rIns="0" bIns="0" rtlCol="0" anchor="t"/>
          <a:lstStyle/>
          <a:p>
            <a:pPr indent="0" marL="0">
              <a:buNone/>
            </a:pPr>
            <a:r>
              <a:rPr lang="en-US" sz="1100" dirty="0">
                <a:solidFill>
                  <a:srgbClr val="4A5460"/>
                </a:solidFill>
                <a:latin typeface="Calibri" pitchFamily="34" charset="0"/>
                <a:ea typeface="Calibri" pitchFamily="34" charset="-122"/>
                <a:cs typeface="Calibri" pitchFamily="34" charset="-120"/>
              </a:rPr>
              <a:t>Gender, age group, insurance provider, and city-based distributions of the patient base.</a:t>
            </a:r>
            <a:endParaRPr lang="en-US" sz="1100" dirty="0"/>
          </a:p>
        </p:txBody>
      </p:sp>
      <p:sp>
        <p:nvSpPr>
          <p:cNvPr id="25" name="Shape 23"/>
          <p:cNvSpPr/>
          <p:nvPr/>
        </p:nvSpPr>
        <p:spPr>
          <a:xfrm>
            <a:off x="4361688" y="4297680"/>
            <a:ext cx="3657600" cy="1783080"/>
          </a:xfrm>
          <a:prstGeom prst="roundRect">
            <a:avLst>
              <a:gd name="adj" fmla="val 6154"/>
            </a:avLst>
          </a:prstGeom>
          <a:solidFill>
            <a:srgbClr val="FBF9F4"/>
          </a:solidFill>
          <a:ln w="12700">
            <a:solidFill>
              <a:srgbClr val="D9D2BF"/>
            </a:solidFill>
            <a:prstDash val="solid"/>
          </a:ln>
        </p:spPr>
      </p:sp>
      <p:sp>
        <p:nvSpPr>
          <p:cNvPr id="26" name="Shape 24"/>
          <p:cNvSpPr/>
          <p:nvPr/>
        </p:nvSpPr>
        <p:spPr>
          <a:xfrm>
            <a:off x="4636008" y="4526280"/>
            <a:ext cx="457200" cy="45720"/>
          </a:xfrm>
          <a:prstGeom prst="rect">
            <a:avLst/>
          </a:prstGeom>
          <a:solidFill>
            <a:srgbClr val="7FA38D"/>
          </a:solidFill>
          <a:ln w="12700">
            <a:solidFill>
              <a:srgbClr val="7FA38D"/>
            </a:solidFill>
            <a:prstDash val="solid"/>
          </a:ln>
        </p:spPr>
      </p:sp>
      <p:sp>
        <p:nvSpPr>
          <p:cNvPr id="27" name="Text 25"/>
          <p:cNvSpPr/>
          <p:nvPr/>
        </p:nvSpPr>
        <p:spPr>
          <a:xfrm>
            <a:off x="4636008" y="4663440"/>
            <a:ext cx="3108960" cy="274320"/>
          </a:xfrm>
          <a:prstGeom prst="rect">
            <a:avLst/>
          </a:prstGeom>
          <a:noFill/>
          <a:ln/>
        </p:spPr>
        <p:txBody>
          <a:bodyPr wrap="square" lIns="0" tIns="0" rIns="0" bIns="0" rtlCol="0" anchor="ctr"/>
          <a:lstStyle/>
          <a:p>
            <a:pPr indent="0" marL="0">
              <a:buNone/>
            </a:pPr>
            <a:r>
              <a:rPr lang="en-US" sz="900" b="1" spc="300" kern="0" dirty="0">
                <a:solidFill>
                  <a:srgbClr val="7FA38D"/>
                </a:solidFill>
                <a:latin typeface="Calibri" pitchFamily="34" charset="0"/>
                <a:ea typeface="Calibri" pitchFamily="34" charset="-122"/>
                <a:cs typeface="Calibri" pitchFamily="34" charset="-120"/>
              </a:rPr>
              <a:t>OPERATIONAL</a:t>
            </a:r>
            <a:endParaRPr lang="en-US" sz="900" dirty="0"/>
          </a:p>
        </p:txBody>
      </p:sp>
      <p:sp>
        <p:nvSpPr>
          <p:cNvPr id="28" name="Text 26"/>
          <p:cNvSpPr/>
          <p:nvPr/>
        </p:nvSpPr>
        <p:spPr>
          <a:xfrm>
            <a:off x="4636008" y="4937760"/>
            <a:ext cx="3108960" cy="411480"/>
          </a:xfrm>
          <a:prstGeom prst="rect">
            <a:avLst/>
          </a:prstGeom>
          <a:noFill/>
          <a:ln/>
        </p:spPr>
        <p:txBody>
          <a:bodyPr wrap="square" lIns="0" tIns="0" rIns="0" bIns="0" rtlCol="0" anchor="ctr"/>
          <a:lstStyle/>
          <a:p>
            <a:pPr indent="0" marL="0">
              <a:buNone/>
            </a:pPr>
            <a:r>
              <a:rPr lang="en-US" sz="2000" b="1" dirty="0">
                <a:solidFill>
                  <a:srgbClr val="1A2530"/>
                </a:solidFill>
                <a:latin typeface="Georgia" pitchFamily="34" charset="0"/>
                <a:ea typeface="Georgia" pitchFamily="34" charset="-122"/>
                <a:cs typeface="Georgia" pitchFamily="34" charset="-120"/>
              </a:rPr>
              <a:t>Activity</a:t>
            </a:r>
            <a:endParaRPr lang="en-US" sz="2000" dirty="0"/>
          </a:p>
        </p:txBody>
      </p:sp>
      <p:sp>
        <p:nvSpPr>
          <p:cNvPr id="29" name="Text 27"/>
          <p:cNvSpPr/>
          <p:nvPr/>
        </p:nvSpPr>
        <p:spPr>
          <a:xfrm>
            <a:off x="4636008" y="5394960"/>
            <a:ext cx="3108960" cy="640080"/>
          </a:xfrm>
          <a:prstGeom prst="rect">
            <a:avLst/>
          </a:prstGeom>
          <a:noFill/>
          <a:ln/>
        </p:spPr>
        <p:txBody>
          <a:bodyPr wrap="square" lIns="0" tIns="0" rIns="0" bIns="0" rtlCol="0" anchor="t"/>
          <a:lstStyle/>
          <a:p>
            <a:pPr indent="0" marL="0">
              <a:buNone/>
            </a:pPr>
            <a:r>
              <a:rPr lang="en-US" sz="1100" dirty="0">
                <a:solidFill>
                  <a:srgbClr val="4A5460"/>
                </a:solidFill>
                <a:latin typeface="Calibri" pitchFamily="34" charset="0"/>
                <a:ea typeface="Calibri" pitchFamily="34" charset="-122"/>
                <a:cs typeface="Calibri" pitchFamily="34" charset="-120"/>
              </a:rPr>
              <a:t>Appointments by status (Completed / Cancelled / No-show), by month, by day of week, and diagnosis counts.</a:t>
            </a:r>
            <a:endParaRPr lang="en-US" sz="1100" dirty="0"/>
          </a:p>
        </p:txBody>
      </p:sp>
      <p:sp>
        <p:nvSpPr>
          <p:cNvPr id="30" name="Text 28"/>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8A8275"/>
                </a:solidFill>
                <a:latin typeface="Calibri" pitchFamily="34" charset="0"/>
                <a:ea typeface="Calibri" pitchFamily="34" charset="-122"/>
                <a:cs typeface="Calibri" pitchFamily="34" charset="-120"/>
              </a:rPr>
              <a:t>3 / 14</a:t>
            </a:r>
            <a:endParaRPr lang="en-US" sz="900" dirty="0"/>
          </a:p>
        </p:txBody>
      </p:sp>
      <p:sp>
        <p:nvSpPr>
          <p:cNvPr id="31" name="Text 29"/>
          <p:cNvSpPr/>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8A8275"/>
                </a:solidFill>
                <a:latin typeface="Calibri" pitchFamily="34" charset="0"/>
                <a:ea typeface="Calibri" pitchFamily="34" charset="-122"/>
                <a:cs typeface="Calibri" pitchFamily="34" charset="-120"/>
              </a:rPr>
              <a:t>Vitalis Healthcare Project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03 · DATA SCHEMA</a:t>
            </a:r>
            <a:endParaRPr lang="en-US" sz="1000" dirty="0"/>
          </a:p>
        </p:txBody>
      </p:sp>
      <p:sp>
        <p:nvSpPr>
          <p:cNvPr id="3" name="Text 1"/>
          <p:cNvSpPr/>
          <p:nvPr/>
        </p:nvSpPr>
        <p:spPr>
          <a:xfrm>
            <a:off x="457200" y="822960"/>
            <a:ext cx="10972800" cy="640080"/>
          </a:xfrm>
          <a:prstGeom prst="rect">
            <a:avLst/>
          </a:prstGeom>
          <a:noFill/>
          <a:ln/>
        </p:spPr>
        <p:txBody>
          <a:bodyPr wrap="square" lIns="0" tIns="0" rIns="0" bIns="0" rtlCol="0" anchor="ctr"/>
          <a:lstStyle/>
          <a:p>
            <a:pPr indent="0" marL="0">
              <a:buNone/>
            </a:pPr>
            <a:r>
              <a:rPr lang="en-US" sz="3600" b="1" dirty="0">
                <a:solidFill>
                  <a:srgbClr val="1A2530"/>
                </a:solidFill>
                <a:latin typeface="Georgia" pitchFamily="34" charset="0"/>
                <a:ea typeface="Georgia" pitchFamily="34" charset="-122"/>
                <a:cs typeface="Georgia" pitchFamily="34" charset="-120"/>
              </a:rPr>
              <a:t>Six tables, one fact table</a:t>
            </a:r>
            <a:endParaRPr lang="en-US" sz="3600" dirty="0"/>
          </a:p>
        </p:txBody>
      </p:sp>
      <p:sp>
        <p:nvSpPr>
          <p:cNvPr id="4" name="Text 2"/>
          <p:cNvSpPr/>
          <p:nvPr/>
        </p:nvSpPr>
        <p:spPr>
          <a:xfrm>
            <a:off x="457200" y="1554480"/>
            <a:ext cx="10972800" cy="457200"/>
          </a:xfrm>
          <a:prstGeom prst="rect">
            <a:avLst/>
          </a:prstGeom>
          <a:noFill/>
          <a:ln/>
        </p:spPr>
        <p:txBody>
          <a:bodyPr wrap="square" lIns="0" tIns="0" rIns="0" bIns="0" rtlCol="0" anchor="ctr"/>
          <a:lstStyle/>
          <a:p>
            <a:pPr indent="0" marL="0">
              <a:buNone/>
            </a:pPr>
            <a:r>
              <a:rPr lang="en-US" sz="1200" i="1" dirty="0">
                <a:solidFill>
                  <a:srgbClr val="4A5460"/>
                </a:solidFill>
                <a:latin typeface="Calibri" pitchFamily="34" charset="0"/>
                <a:ea typeface="Calibri" pitchFamily="34" charset="-122"/>
                <a:cs typeface="Calibri" pitchFamily="34" charset="-120"/>
              </a:rPr>
              <a:t>Appointments is the central fact table. Billing, diagnoses, and medications all reference it via foreign keys.</a:t>
            </a:r>
            <a:endParaRPr lang="en-US" sz="1200" dirty="0"/>
          </a:p>
        </p:txBody>
      </p:sp>
      <p:sp>
        <p:nvSpPr>
          <p:cNvPr id="5" name="Shape 3"/>
          <p:cNvSpPr/>
          <p:nvPr/>
        </p:nvSpPr>
        <p:spPr>
          <a:xfrm>
            <a:off x="457200" y="2194560"/>
            <a:ext cx="2286000" cy="1920240"/>
          </a:xfrm>
          <a:prstGeom prst="roundRect">
            <a:avLst>
              <a:gd name="adj" fmla="val 3810"/>
            </a:avLst>
          </a:prstGeom>
          <a:solidFill>
            <a:srgbClr val="FBF9F4"/>
          </a:solidFill>
          <a:ln w="12700">
            <a:solidFill>
              <a:srgbClr val="D9D2BF"/>
            </a:solidFill>
            <a:prstDash val="solid"/>
          </a:ln>
        </p:spPr>
      </p:sp>
      <p:sp>
        <p:nvSpPr>
          <p:cNvPr id="6" name="Text 4"/>
          <p:cNvSpPr/>
          <p:nvPr/>
        </p:nvSpPr>
        <p:spPr>
          <a:xfrm>
            <a:off x="457200" y="2286000"/>
            <a:ext cx="2286000" cy="365760"/>
          </a:xfrm>
          <a:prstGeom prst="rect">
            <a:avLst/>
          </a:prstGeom>
          <a:noFill/>
          <a:ln/>
        </p:spPr>
        <p:txBody>
          <a:bodyPr wrap="square" lIns="0" tIns="0" rIns="0" bIns="0" rtlCol="0" anchor="ctr"/>
          <a:lstStyle/>
          <a:p>
            <a:pPr algn="ctr" indent="0" marL="0">
              <a:buNone/>
            </a:pPr>
            <a:r>
              <a:rPr lang="en-US" sz="1300" b="1" dirty="0">
                <a:solidFill>
                  <a:srgbClr val="1A2530"/>
                </a:solidFill>
                <a:latin typeface="Calibri" pitchFamily="34" charset="0"/>
                <a:ea typeface="Calibri" pitchFamily="34" charset="-122"/>
                <a:cs typeface="Calibri" pitchFamily="34" charset="-120"/>
              </a:rPr>
              <a:t>patients</a:t>
            </a:r>
            <a:endParaRPr lang="en-US" sz="1300" dirty="0"/>
          </a:p>
        </p:txBody>
      </p:sp>
      <p:sp>
        <p:nvSpPr>
          <p:cNvPr id="7" name="Shape 5"/>
          <p:cNvSpPr/>
          <p:nvPr/>
        </p:nvSpPr>
        <p:spPr>
          <a:xfrm>
            <a:off x="640080" y="2651760"/>
            <a:ext cx="1920240" cy="0"/>
          </a:xfrm>
          <a:prstGeom prst="line">
            <a:avLst/>
          </a:prstGeom>
          <a:noFill/>
          <a:ln w="6350">
            <a:solidFill>
              <a:srgbClr val="D9D2BF"/>
            </a:solidFill>
            <a:prstDash val="solid"/>
          </a:ln>
        </p:spPr>
      </p:sp>
      <p:sp>
        <p:nvSpPr>
          <p:cNvPr id="8" name="Text 6"/>
          <p:cNvSpPr/>
          <p:nvPr/>
        </p:nvSpPr>
        <p:spPr>
          <a:xfrm>
            <a:off x="640080" y="2697480"/>
            <a:ext cx="1920240" cy="1325880"/>
          </a:xfrm>
          <a:prstGeom prst="rect">
            <a:avLst/>
          </a:prstGeom>
          <a:noFill/>
          <a:ln/>
        </p:spPr>
        <p:txBody>
          <a:bodyPr wrap="square" lIns="0" tIns="0" rIns="0" bIns="0" rtlCol="0" anchor="t"/>
          <a:lstStyle/>
          <a:p>
            <a:pPr indent="0" marL="0">
              <a:buNone/>
            </a:pPr>
            <a:r>
              <a:rPr lang="en-US" sz="1000" dirty="0">
                <a:solidFill>
                  <a:srgbClr val="4A5460"/>
                </a:solidFill>
                <a:latin typeface="Consolas" pitchFamily="34" charset="0"/>
                <a:ea typeface="Consolas" pitchFamily="34" charset="-122"/>
                <a:cs typeface="Consolas" pitchFamily="34" charset="-120"/>
              </a:rPr>
              <a:t>patient_id</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first_name</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last_name</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gender · dob</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city · insurance</a:t>
            </a:r>
            <a:endParaRPr lang="en-US" sz="1000" dirty="0"/>
          </a:p>
        </p:txBody>
      </p:sp>
      <p:sp>
        <p:nvSpPr>
          <p:cNvPr id="9" name="Shape 7"/>
          <p:cNvSpPr/>
          <p:nvPr/>
        </p:nvSpPr>
        <p:spPr>
          <a:xfrm>
            <a:off x="3108960" y="2194560"/>
            <a:ext cx="2286000" cy="1920240"/>
          </a:xfrm>
          <a:prstGeom prst="roundRect">
            <a:avLst>
              <a:gd name="adj" fmla="val 3810"/>
            </a:avLst>
          </a:prstGeom>
          <a:solidFill>
            <a:srgbClr val="FBF9F4"/>
          </a:solidFill>
          <a:ln w="12700">
            <a:solidFill>
              <a:srgbClr val="D9D2BF"/>
            </a:solidFill>
            <a:prstDash val="solid"/>
          </a:ln>
        </p:spPr>
      </p:sp>
      <p:sp>
        <p:nvSpPr>
          <p:cNvPr id="10" name="Text 8"/>
          <p:cNvSpPr/>
          <p:nvPr/>
        </p:nvSpPr>
        <p:spPr>
          <a:xfrm>
            <a:off x="3108960" y="2286000"/>
            <a:ext cx="2286000" cy="365760"/>
          </a:xfrm>
          <a:prstGeom prst="rect">
            <a:avLst/>
          </a:prstGeom>
          <a:noFill/>
          <a:ln/>
        </p:spPr>
        <p:txBody>
          <a:bodyPr wrap="square" lIns="0" tIns="0" rIns="0" bIns="0" rtlCol="0" anchor="ctr"/>
          <a:lstStyle/>
          <a:p>
            <a:pPr algn="ctr" indent="0" marL="0">
              <a:buNone/>
            </a:pPr>
            <a:r>
              <a:rPr lang="en-US" sz="1300" b="1" dirty="0">
                <a:solidFill>
                  <a:srgbClr val="1A2530"/>
                </a:solidFill>
                <a:latin typeface="Calibri" pitchFamily="34" charset="0"/>
                <a:ea typeface="Calibri" pitchFamily="34" charset="-122"/>
                <a:cs typeface="Calibri" pitchFamily="34" charset="-120"/>
              </a:rPr>
              <a:t>billing</a:t>
            </a:r>
            <a:endParaRPr lang="en-US" sz="1300" dirty="0"/>
          </a:p>
        </p:txBody>
      </p:sp>
      <p:sp>
        <p:nvSpPr>
          <p:cNvPr id="11" name="Shape 9"/>
          <p:cNvSpPr/>
          <p:nvPr/>
        </p:nvSpPr>
        <p:spPr>
          <a:xfrm>
            <a:off x="3291840" y="2651760"/>
            <a:ext cx="1920240" cy="0"/>
          </a:xfrm>
          <a:prstGeom prst="line">
            <a:avLst/>
          </a:prstGeom>
          <a:noFill/>
          <a:ln w="6350">
            <a:solidFill>
              <a:srgbClr val="D9D2BF"/>
            </a:solidFill>
            <a:prstDash val="solid"/>
          </a:ln>
        </p:spPr>
      </p:sp>
      <p:sp>
        <p:nvSpPr>
          <p:cNvPr id="12" name="Text 10"/>
          <p:cNvSpPr/>
          <p:nvPr/>
        </p:nvSpPr>
        <p:spPr>
          <a:xfrm>
            <a:off x="3291840" y="2697480"/>
            <a:ext cx="1920240" cy="1325880"/>
          </a:xfrm>
          <a:prstGeom prst="rect">
            <a:avLst/>
          </a:prstGeom>
          <a:noFill/>
          <a:ln/>
        </p:spPr>
        <p:txBody>
          <a:bodyPr wrap="square" lIns="0" tIns="0" rIns="0" bIns="0" rtlCol="0" anchor="t"/>
          <a:lstStyle/>
          <a:p>
            <a:pPr indent="0" marL="0">
              <a:buNone/>
            </a:pPr>
            <a:r>
              <a:rPr lang="en-US" sz="1000" dirty="0">
                <a:solidFill>
                  <a:srgbClr val="4A5460"/>
                </a:solidFill>
                <a:latin typeface="Consolas" pitchFamily="34" charset="0"/>
                <a:ea typeface="Consolas" pitchFamily="34" charset="-122"/>
                <a:cs typeface="Consolas" pitchFamily="34" charset="-120"/>
              </a:rPr>
              <a:t>bill_id</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appointment_id ↗</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amount</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insurance_covered</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patient_paid</a:t>
            </a:r>
            <a:endParaRPr lang="en-US" sz="1000" dirty="0"/>
          </a:p>
        </p:txBody>
      </p:sp>
      <p:sp>
        <p:nvSpPr>
          <p:cNvPr id="13" name="Shape 11"/>
          <p:cNvSpPr/>
          <p:nvPr/>
        </p:nvSpPr>
        <p:spPr>
          <a:xfrm>
            <a:off x="5760720" y="2194560"/>
            <a:ext cx="2286000" cy="1920240"/>
          </a:xfrm>
          <a:prstGeom prst="roundRect">
            <a:avLst>
              <a:gd name="adj" fmla="val 3810"/>
            </a:avLst>
          </a:prstGeom>
          <a:solidFill>
            <a:srgbClr val="3D6655"/>
          </a:solidFill>
          <a:ln w="12700">
            <a:solidFill>
              <a:srgbClr val="3D6655"/>
            </a:solidFill>
            <a:prstDash val="solid"/>
          </a:ln>
        </p:spPr>
      </p:sp>
      <p:sp>
        <p:nvSpPr>
          <p:cNvPr id="14" name="Text 12"/>
          <p:cNvSpPr/>
          <p:nvPr/>
        </p:nvSpPr>
        <p:spPr>
          <a:xfrm>
            <a:off x="5760720" y="2286000"/>
            <a:ext cx="22860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appointments</a:t>
            </a:r>
            <a:endParaRPr lang="en-US" sz="1300" dirty="0"/>
          </a:p>
        </p:txBody>
      </p:sp>
      <p:sp>
        <p:nvSpPr>
          <p:cNvPr id="15" name="Shape 13"/>
          <p:cNvSpPr/>
          <p:nvPr/>
        </p:nvSpPr>
        <p:spPr>
          <a:xfrm>
            <a:off x="5943600" y="2651760"/>
            <a:ext cx="1920240" cy="0"/>
          </a:xfrm>
          <a:prstGeom prst="line">
            <a:avLst/>
          </a:prstGeom>
          <a:noFill/>
          <a:ln w="6350">
            <a:solidFill>
              <a:srgbClr val="7FA38D"/>
            </a:solidFill>
            <a:prstDash val="solid"/>
          </a:ln>
        </p:spPr>
      </p:sp>
      <p:sp>
        <p:nvSpPr>
          <p:cNvPr id="16" name="Text 14"/>
          <p:cNvSpPr/>
          <p:nvPr/>
        </p:nvSpPr>
        <p:spPr>
          <a:xfrm>
            <a:off x="5943600" y="2697480"/>
            <a:ext cx="1920240" cy="1325880"/>
          </a:xfrm>
          <a:prstGeom prst="rect">
            <a:avLst/>
          </a:prstGeom>
          <a:noFill/>
          <a:ln/>
        </p:spPr>
        <p:txBody>
          <a:bodyPr wrap="square" lIns="0" tIns="0" rIns="0" bIns="0" rtlCol="0" anchor="t"/>
          <a:lstStyle/>
          <a:p>
            <a:pPr indent="0" marL="0">
              <a:buNone/>
            </a:pPr>
            <a:r>
              <a:rPr lang="en-US" sz="1000" dirty="0">
                <a:solidFill>
                  <a:srgbClr val="EFE9DC"/>
                </a:solidFill>
                <a:latin typeface="Consolas" pitchFamily="34" charset="0"/>
                <a:ea typeface="Consolas" pitchFamily="34" charset="-122"/>
                <a:cs typeface="Consolas" pitchFamily="34" charset="-120"/>
              </a:rPr>
              <a:t>appointment_id</a:t>
            </a:r>
            <a:endParaRPr lang="en-US" sz="1000" dirty="0"/>
          </a:p>
          <a:p>
            <a:pPr indent="0" marL="0">
              <a:buNone/>
            </a:pPr>
            <a:r>
              <a:rPr lang="en-US" sz="1000" dirty="0">
                <a:solidFill>
                  <a:srgbClr val="EFE9DC"/>
                </a:solidFill>
                <a:latin typeface="Consolas" pitchFamily="34" charset="0"/>
                <a:ea typeface="Consolas" pitchFamily="34" charset="-122"/>
                <a:cs typeface="Consolas" pitchFamily="34" charset="-120"/>
              </a:rPr>
              <a:t>patient_id ↗</a:t>
            </a:r>
            <a:endParaRPr lang="en-US" sz="1000" dirty="0"/>
          </a:p>
          <a:p>
            <a:pPr indent="0" marL="0">
              <a:buNone/>
            </a:pPr>
            <a:r>
              <a:rPr lang="en-US" sz="1000" dirty="0">
                <a:solidFill>
                  <a:srgbClr val="EFE9DC"/>
                </a:solidFill>
                <a:latin typeface="Consolas" pitchFamily="34" charset="0"/>
                <a:ea typeface="Consolas" pitchFamily="34" charset="-122"/>
                <a:cs typeface="Consolas" pitchFamily="34" charset="-120"/>
              </a:rPr>
              <a:t>doctor_id ↗</a:t>
            </a:r>
            <a:endParaRPr lang="en-US" sz="1000" dirty="0"/>
          </a:p>
          <a:p>
            <a:pPr indent="0" marL="0">
              <a:buNone/>
            </a:pPr>
            <a:r>
              <a:rPr lang="en-US" sz="1000" dirty="0">
                <a:solidFill>
                  <a:srgbClr val="EFE9DC"/>
                </a:solidFill>
                <a:latin typeface="Consolas" pitchFamily="34" charset="0"/>
                <a:ea typeface="Consolas" pitchFamily="34" charset="-122"/>
                <a:cs typeface="Consolas" pitchFamily="34" charset="-120"/>
              </a:rPr>
              <a:t>date · status</a:t>
            </a:r>
            <a:endParaRPr lang="en-US" sz="1000" dirty="0"/>
          </a:p>
          <a:p>
            <a:pPr indent="0" marL="0">
              <a:buNone/>
            </a:pPr>
            <a:r>
              <a:rPr lang="en-US" sz="1000" dirty="0">
                <a:solidFill>
                  <a:srgbClr val="EFE9DC"/>
                </a:solidFill>
                <a:latin typeface="Consolas" pitchFamily="34" charset="0"/>
                <a:ea typeface="Consolas" pitchFamily="34" charset="-122"/>
                <a:cs typeface="Consolas" pitchFamily="34" charset="-120"/>
              </a:rPr>
              <a:t>visit_reason</a:t>
            </a:r>
            <a:endParaRPr lang="en-US" sz="1000" dirty="0"/>
          </a:p>
        </p:txBody>
      </p:sp>
      <p:sp>
        <p:nvSpPr>
          <p:cNvPr id="17" name="Shape 15"/>
          <p:cNvSpPr/>
          <p:nvPr/>
        </p:nvSpPr>
        <p:spPr>
          <a:xfrm>
            <a:off x="8412480" y="2194560"/>
            <a:ext cx="3200400" cy="1920240"/>
          </a:xfrm>
          <a:prstGeom prst="roundRect">
            <a:avLst>
              <a:gd name="adj" fmla="val 3810"/>
            </a:avLst>
          </a:prstGeom>
          <a:solidFill>
            <a:srgbClr val="FBF9F4"/>
          </a:solidFill>
          <a:ln w="12700">
            <a:solidFill>
              <a:srgbClr val="D9D2BF"/>
            </a:solidFill>
            <a:prstDash val="solid"/>
          </a:ln>
        </p:spPr>
      </p:sp>
      <p:sp>
        <p:nvSpPr>
          <p:cNvPr id="18" name="Text 16"/>
          <p:cNvSpPr/>
          <p:nvPr/>
        </p:nvSpPr>
        <p:spPr>
          <a:xfrm>
            <a:off x="8412480" y="2286000"/>
            <a:ext cx="3200400" cy="365760"/>
          </a:xfrm>
          <a:prstGeom prst="rect">
            <a:avLst/>
          </a:prstGeom>
          <a:noFill/>
          <a:ln/>
        </p:spPr>
        <p:txBody>
          <a:bodyPr wrap="square" lIns="0" tIns="0" rIns="0" bIns="0" rtlCol="0" anchor="ctr"/>
          <a:lstStyle/>
          <a:p>
            <a:pPr algn="ctr" indent="0" marL="0">
              <a:buNone/>
            </a:pPr>
            <a:r>
              <a:rPr lang="en-US" sz="1300" b="1" dirty="0">
                <a:solidFill>
                  <a:srgbClr val="1A2530"/>
                </a:solidFill>
                <a:latin typeface="Calibri" pitchFamily="34" charset="0"/>
                <a:ea typeface="Calibri" pitchFamily="34" charset="-122"/>
                <a:cs typeface="Calibri" pitchFamily="34" charset="-120"/>
              </a:rPr>
              <a:t>doctors</a:t>
            </a:r>
            <a:endParaRPr lang="en-US" sz="1300" dirty="0"/>
          </a:p>
        </p:txBody>
      </p:sp>
      <p:sp>
        <p:nvSpPr>
          <p:cNvPr id="19" name="Shape 17"/>
          <p:cNvSpPr/>
          <p:nvPr/>
        </p:nvSpPr>
        <p:spPr>
          <a:xfrm>
            <a:off x="8595360" y="2651760"/>
            <a:ext cx="2834640" cy="0"/>
          </a:xfrm>
          <a:prstGeom prst="line">
            <a:avLst/>
          </a:prstGeom>
          <a:noFill/>
          <a:ln w="6350">
            <a:solidFill>
              <a:srgbClr val="D9D2BF"/>
            </a:solidFill>
            <a:prstDash val="solid"/>
          </a:ln>
        </p:spPr>
      </p:sp>
      <p:sp>
        <p:nvSpPr>
          <p:cNvPr id="20" name="Text 18"/>
          <p:cNvSpPr/>
          <p:nvPr/>
        </p:nvSpPr>
        <p:spPr>
          <a:xfrm>
            <a:off x="8595360" y="2697480"/>
            <a:ext cx="2834640" cy="1325880"/>
          </a:xfrm>
          <a:prstGeom prst="rect">
            <a:avLst/>
          </a:prstGeom>
          <a:noFill/>
          <a:ln/>
        </p:spPr>
        <p:txBody>
          <a:bodyPr wrap="square" lIns="0" tIns="0" rIns="0" bIns="0" rtlCol="0" anchor="t"/>
          <a:lstStyle/>
          <a:p>
            <a:pPr indent="0" marL="0">
              <a:buNone/>
            </a:pPr>
            <a:r>
              <a:rPr lang="en-US" sz="1000" dirty="0">
                <a:solidFill>
                  <a:srgbClr val="4A5460"/>
                </a:solidFill>
                <a:latin typeface="Consolas" pitchFamily="34" charset="0"/>
                <a:ea typeface="Consolas" pitchFamily="34" charset="-122"/>
                <a:cs typeface="Consolas" pitchFamily="34" charset="-120"/>
              </a:rPr>
              <a:t>doctor_id</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doctor_name</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specialty</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clinic_location</a:t>
            </a:r>
            <a:endParaRPr lang="en-US" sz="1000" dirty="0"/>
          </a:p>
        </p:txBody>
      </p:sp>
      <p:sp>
        <p:nvSpPr>
          <p:cNvPr id="21" name="Shape 19"/>
          <p:cNvSpPr/>
          <p:nvPr/>
        </p:nvSpPr>
        <p:spPr>
          <a:xfrm>
            <a:off x="1828800" y="4389120"/>
            <a:ext cx="3200400" cy="1828800"/>
          </a:xfrm>
          <a:prstGeom prst="roundRect">
            <a:avLst>
              <a:gd name="adj" fmla="val 4000"/>
            </a:avLst>
          </a:prstGeom>
          <a:solidFill>
            <a:srgbClr val="FBF9F4"/>
          </a:solidFill>
          <a:ln w="12700">
            <a:solidFill>
              <a:srgbClr val="D9D2BF"/>
            </a:solidFill>
            <a:prstDash val="solid"/>
          </a:ln>
        </p:spPr>
      </p:sp>
      <p:sp>
        <p:nvSpPr>
          <p:cNvPr id="22" name="Text 20"/>
          <p:cNvSpPr/>
          <p:nvPr/>
        </p:nvSpPr>
        <p:spPr>
          <a:xfrm>
            <a:off x="1828800" y="4480560"/>
            <a:ext cx="3200400" cy="365760"/>
          </a:xfrm>
          <a:prstGeom prst="rect">
            <a:avLst/>
          </a:prstGeom>
          <a:noFill/>
          <a:ln/>
        </p:spPr>
        <p:txBody>
          <a:bodyPr wrap="square" lIns="0" tIns="0" rIns="0" bIns="0" rtlCol="0" anchor="ctr"/>
          <a:lstStyle/>
          <a:p>
            <a:pPr algn="ctr" indent="0" marL="0">
              <a:buNone/>
            </a:pPr>
            <a:r>
              <a:rPr lang="en-US" sz="1300" b="1" dirty="0">
                <a:solidFill>
                  <a:srgbClr val="1A2530"/>
                </a:solidFill>
                <a:latin typeface="Calibri" pitchFamily="34" charset="0"/>
                <a:ea typeface="Calibri" pitchFamily="34" charset="-122"/>
                <a:cs typeface="Calibri" pitchFamily="34" charset="-120"/>
              </a:rPr>
              <a:t>medications</a:t>
            </a:r>
            <a:endParaRPr lang="en-US" sz="1300" dirty="0"/>
          </a:p>
        </p:txBody>
      </p:sp>
      <p:sp>
        <p:nvSpPr>
          <p:cNvPr id="23" name="Shape 21"/>
          <p:cNvSpPr/>
          <p:nvPr/>
        </p:nvSpPr>
        <p:spPr>
          <a:xfrm>
            <a:off x="2011680" y="4846320"/>
            <a:ext cx="2834640" cy="0"/>
          </a:xfrm>
          <a:prstGeom prst="line">
            <a:avLst/>
          </a:prstGeom>
          <a:noFill/>
          <a:ln w="6350">
            <a:solidFill>
              <a:srgbClr val="D9D2BF"/>
            </a:solidFill>
            <a:prstDash val="solid"/>
          </a:ln>
        </p:spPr>
      </p:sp>
      <p:sp>
        <p:nvSpPr>
          <p:cNvPr id="24" name="Text 22"/>
          <p:cNvSpPr/>
          <p:nvPr/>
        </p:nvSpPr>
        <p:spPr>
          <a:xfrm>
            <a:off x="2011680" y="4892040"/>
            <a:ext cx="2834640" cy="1234440"/>
          </a:xfrm>
          <a:prstGeom prst="rect">
            <a:avLst/>
          </a:prstGeom>
          <a:noFill/>
          <a:ln/>
        </p:spPr>
        <p:txBody>
          <a:bodyPr wrap="square" lIns="0" tIns="0" rIns="0" bIns="0" rtlCol="0" anchor="t"/>
          <a:lstStyle/>
          <a:p>
            <a:pPr indent="0" marL="0">
              <a:buNone/>
            </a:pPr>
            <a:r>
              <a:rPr lang="en-US" sz="1000" dirty="0">
                <a:solidFill>
                  <a:srgbClr val="4A5460"/>
                </a:solidFill>
                <a:latin typeface="Consolas" pitchFamily="34" charset="0"/>
                <a:ea typeface="Consolas" pitchFamily="34" charset="-122"/>
                <a:cs typeface="Consolas" pitchFamily="34" charset="-120"/>
              </a:rPr>
              <a:t>med_id</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patient_id ↗</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medication_name</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dosage</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start_date · end_date</a:t>
            </a:r>
            <a:endParaRPr lang="en-US" sz="1000" dirty="0"/>
          </a:p>
        </p:txBody>
      </p:sp>
      <p:sp>
        <p:nvSpPr>
          <p:cNvPr id="25" name="Shape 23"/>
          <p:cNvSpPr/>
          <p:nvPr/>
        </p:nvSpPr>
        <p:spPr>
          <a:xfrm>
            <a:off x="7132320" y="4389120"/>
            <a:ext cx="3200400" cy="1828800"/>
          </a:xfrm>
          <a:prstGeom prst="roundRect">
            <a:avLst>
              <a:gd name="adj" fmla="val 4000"/>
            </a:avLst>
          </a:prstGeom>
          <a:solidFill>
            <a:srgbClr val="FBF9F4"/>
          </a:solidFill>
          <a:ln w="12700">
            <a:solidFill>
              <a:srgbClr val="D9D2BF"/>
            </a:solidFill>
            <a:prstDash val="solid"/>
          </a:ln>
        </p:spPr>
      </p:sp>
      <p:sp>
        <p:nvSpPr>
          <p:cNvPr id="26" name="Text 24"/>
          <p:cNvSpPr/>
          <p:nvPr/>
        </p:nvSpPr>
        <p:spPr>
          <a:xfrm>
            <a:off x="7132320" y="4480560"/>
            <a:ext cx="3200400" cy="365760"/>
          </a:xfrm>
          <a:prstGeom prst="rect">
            <a:avLst/>
          </a:prstGeom>
          <a:noFill/>
          <a:ln/>
        </p:spPr>
        <p:txBody>
          <a:bodyPr wrap="square" lIns="0" tIns="0" rIns="0" bIns="0" rtlCol="0" anchor="ctr"/>
          <a:lstStyle/>
          <a:p>
            <a:pPr algn="ctr" indent="0" marL="0">
              <a:buNone/>
            </a:pPr>
            <a:r>
              <a:rPr lang="en-US" sz="1300" b="1" dirty="0">
                <a:solidFill>
                  <a:srgbClr val="1A2530"/>
                </a:solidFill>
                <a:latin typeface="Calibri" pitchFamily="34" charset="0"/>
                <a:ea typeface="Calibri" pitchFamily="34" charset="-122"/>
                <a:cs typeface="Calibri" pitchFamily="34" charset="-120"/>
              </a:rPr>
              <a:t>diagnoses</a:t>
            </a:r>
            <a:endParaRPr lang="en-US" sz="1300" dirty="0"/>
          </a:p>
        </p:txBody>
      </p:sp>
      <p:sp>
        <p:nvSpPr>
          <p:cNvPr id="27" name="Shape 25"/>
          <p:cNvSpPr/>
          <p:nvPr/>
        </p:nvSpPr>
        <p:spPr>
          <a:xfrm>
            <a:off x="7315200" y="4846320"/>
            <a:ext cx="2834640" cy="0"/>
          </a:xfrm>
          <a:prstGeom prst="line">
            <a:avLst/>
          </a:prstGeom>
          <a:noFill/>
          <a:ln w="6350">
            <a:solidFill>
              <a:srgbClr val="D9D2BF"/>
            </a:solidFill>
            <a:prstDash val="solid"/>
          </a:ln>
        </p:spPr>
      </p:sp>
      <p:sp>
        <p:nvSpPr>
          <p:cNvPr id="28" name="Text 26"/>
          <p:cNvSpPr/>
          <p:nvPr/>
        </p:nvSpPr>
        <p:spPr>
          <a:xfrm>
            <a:off x="7315200" y="4892040"/>
            <a:ext cx="2834640" cy="1234440"/>
          </a:xfrm>
          <a:prstGeom prst="rect">
            <a:avLst/>
          </a:prstGeom>
          <a:noFill/>
          <a:ln/>
        </p:spPr>
        <p:txBody>
          <a:bodyPr wrap="square" lIns="0" tIns="0" rIns="0" bIns="0" rtlCol="0" anchor="t"/>
          <a:lstStyle/>
          <a:p>
            <a:pPr indent="0" marL="0">
              <a:buNone/>
            </a:pPr>
            <a:r>
              <a:rPr lang="en-US" sz="1000" dirty="0">
                <a:solidFill>
                  <a:srgbClr val="4A5460"/>
                </a:solidFill>
                <a:latin typeface="Consolas" pitchFamily="34" charset="0"/>
                <a:ea typeface="Consolas" pitchFamily="34" charset="-122"/>
                <a:cs typeface="Consolas" pitchFamily="34" charset="-120"/>
              </a:rPr>
              <a:t>diagnosis_id</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appointment_id ↗</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diagnosis_code</a:t>
            </a:r>
            <a:endParaRPr lang="en-US" sz="1000" dirty="0"/>
          </a:p>
          <a:p>
            <a:pPr indent="0" marL="0">
              <a:buNone/>
            </a:pPr>
            <a:r>
              <a:rPr lang="en-US" sz="1000" dirty="0">
                <a:solidFill>
                  <a:srgbClr val="4A5460"/>
                </a:solidFill>
                <a:latin typeface="Consolas" pitchFamily="34" charset="0"/>
                <a:ea typeface="Consolas" pitchFamily="34" charset="-122"/>
                <a:cs typeface="Consolas" pitchFamily="34" charset="-120"/>
              </a:rPr>
              <a:t>diagnosis_description</a:t>
            </a:r>
            <a:endParaRPr lang="en-US" sz="1000" dirty="0"/>
          </a:p>
        </p:txBody>
      </p:sp>
      <p:sp>
        <p:nvSpPr>
          <p:cNvPr id="29"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8A8275"/>
                </a:solidFill>
                <a:latin typeface="Calibri" pitchFamily="34" charset="0"/>
                <a:ea typeface="Calibri" pitchFamily="34" charset="-122"/>
                <a:cs typeface="Calibri" pitchFamily="34" charset="-120"/>
              </a:rPr>
              <a:t>4 / 14</a:t>
            </a:r>
            <a:endParaRPr lang="en-US" sz="900" dirty="0"/>
          </a:p>
        </p:txBody>
      </p:sp>
      <p:sp>
        <p:nvSpPr>
          <p:cNvPr id="30" name="Text 28"/>
          <p:cNvSpPr/>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8A8275"/>
                </a:solidFill>
                <a:latin typeface="Calibri" pitchFamily="34" charset="0"/>
                <a:ea typeface="Calibri" pitchFamily="34" charset="-122"/>
                <a:cs typeface="Calibri" pitchFamily="34" charset="-120"/>
              </a:rPr>
              <a:t>Vitalis Healthcare Project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04 · DEMOGRAPHICS DASHBOARD</a:t>
            </a:r>
            <a:endParaRPr lang="en-US" sz="1000" dirty="0"/>
          </a:p>
        </p:txBody>
      </p:sp>
      <p:sp>
        <p:nvSpPr>
          <p:cNvPr id="3" name="Text 1"/>
          <p:cNvSpPr/>
          <p:nvPr/>
        </p:nvSpPr>
        <p:spPr>
          <a:xfrm>
            <a:off x="457200" y="822960"/>
            <a:ext cx="10972800" cy="640080"/>
          </a:xfrm>
          <a:prstGeom prst="rect">
            <a:avLst/>
          </a:prstGeom>
          <a:noFill/>
          <a:ln/>
        </p:spPr>
        <p:txBody>
          <a:bodyPr wrap="square" lIns="0" tIns="0" rIns="0" bIns="0" rtlCol="0" anchor="ctr"/>
          <a:lstStyle/>
          <a:p>
            <a:pPr indent="0" marL="0">
              <a:buNone/>
            </a:pPr>
            <a:r>
              <a:rPr lang="en-US" sz="3000" b="1" dirty="0">
                <a:solidFill>
                  <a:srgbClr val="1A2530"/>
                </a:solidFill>
                <a:latin typeface="Georgia" pitchFamily="34" charset="0"/>
                <a:ea typeface="Georgia" pitchFamily="34" charset="-122"/>
                <a:cs typeface="Georgia" pitchFamily="34" charset="-120"/>
              </a:rPr>
              <a:t>Who the patients are</a:t>
            </a:r>
            <a:endParaRPr lang="en-US" sz="3000" dirty="0"/>
          </a:p>
        </p:txBody>
      </p:sp>
      <p:sp>
        <p:nvSpPr>
          <p:cNvPr id="4" name="Shape 2"/>
          <p:cNvSpPr/>
          <p:nvPr/>
        </p:nvSpPr>
        <p:spPr>
          <a:xfrm>
            <a:off x="365760" y="1600200"/>
            <a:ext cx="7406640" cy="4663440"/>
          </a:xfrm>
          <a:prstGeom prst="roundRect">
            <a:avLst>
              <a:gd name="adj" fmla="val 2353"/>
            </a:avLst>
          </a:prstGeom>
          <a:solidFill>
            <a:srgbClr val="FBF9F4"/>
          </a:solidFill>
          <a:ln w="12700">
            <a:solidFill>
              <a:srgbClr val="D9D2BF"/>
            </a:solidFill>
            <a:prstDash val="solid"/>
          </a:ln>
        </p:spPr>
      </p:sp>
      <p:pic>
        <p:nvPicPr>
          <p:cNvPr id="5" name="Image 0" descr="/home/claude/docs/dash-demographics.jpg">    </p:cNvPr>
          <p:cNvPicPr>
            <a:picLocks noChangeAspect="1"/>
          </p:cNvPicPr>
          <p:nvPr/>
        </p:nvPicPr>
        <p:blipFill>
          <a:blip r:embed="rId1"/>
          <a:srcRect l="0" r="0" t="0" b="0"/>
          <a:stretch/>
        </p:blipFill>
        <p:spPr>
          <a:xfrm>
            <a:off x="502920" y="1737360"/>
            <a:ext cx="7132320" cy="4389120"/>
          </a:xfrm>
          <a:prstGeom prst="rect">
            <a:avLst/>
          </a:prstGeom>
        </p:spPr>
      </p:pic>
      <p:sp>
        <p:nvSpPr>
          <p:cNvPr id="6" name="Text 3"/>
          <p:cNvSpPr/>
          <p:nvPr/>
        </p:nvSpPr>
        <p:spPr>
          <a:xfrm>
            <a:off x="8092440" y="1691640"/>
            <a:ext cx="3840480" cy="32004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KEY OBSERVATIONS</a:t>
            </a:r>
            <a:endParaRPr lang="en-US" sz="1000" dirty="0"/>
          </a:p>
        </p:txBody>
      </p:sp>
      <p:sp>
        <p:nvSpPr>
          <p:cNvPr id="7" name="Shape 4"/>
          <p:cNvSpPr/>
          <p:nvPr/>
        </p:nvSpPr>
        <p:spPr>
          <a:xfrm>
            <a:off x="8092440" y="2103120"/>
            <a:ext cx="320040" cy="320040"/>
          </a:xfrm>
          <a:prstGeom prst="ellipse">
            <a:avLst/>
          </a:prstGeom>
          <a:solidFill>
            <a:srgbClr val="D9603F"/>
          </a:solidFill>
          <a:ln w="12700">
            <a:solidFill>
              <a:srgbClr val="D9603F"/>
            </a:solidFill>
            <a:prstDash val="solid"/>
          </a:ln>
        </p:spPr>
      </p:sp>
      <p:sp>
        <p:nvSpPr>
          <p:cNvPr id="8" name="Text 5"/>
          <p:cNvSpPr/>
          <p:nvPr/>
        </p:nvSpPr>
        <p:spPr>
          <a:xfrm>
            <a:off x="8092440" y="210312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8549640" y="205740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5,000 patients across 5 cities — almost evenly distributed</a:t>
            </a:r>
            <a:endParaRPr lang="en-US" sz="1150" dirty="0"/>
          </a:p>
        </p:txBody>
      </p:sp>
      <p:sp>
        <p:nvSpPr>
          <p:cNvPr id="10" name="Shape 7"/>
          <p:cNvSpPr/>
          <p:nvPr/>
        </p:nvSpPr>
        <p:spPr>
          <a:xfrm>
            <a:off x="8092440" y="3063240"/>
            <a:ext cx="320040" cy="320040"/>
          </a:xfrm>
          <a:prstGeom prst="ellipse">
            <a:avLst/>
          </a:prstGeom>
          <a:solidFill>
            <a:srgbClr val="D9603F"/>
          </a:solidFill>
          <a:ln w="12700">
            <a:solidFill>
              <a:srgbClr val="D9603F"/>
            </a:solidFill>
            <a:prstDash val="solid"/>
          </a:ln>
        </p:spPr>
      </p:sp>
      <p:sp>
        <p:nvSpPr>
          <p:cNvPr id="11" name="Text 8"/>
          <p:cNvSpPr/>
          <p:nvPr/>
        </p:nvSpPr>
        <p:spPr>
          <a:xfrm>
            <a:off x="8092440" y="306324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8549640" y="301752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Portland leads with 1,052 patients; Olympia trails at 967</a:t>
            </a:r>
            <a:endParaRPr lang="en-US" sz="1150" dirty="0"/>
          </a:p>
        </p:txBody>
      </p:sp>
      <p:sp>
        <p:nvSpPr>
          <p:cNvPr id="13" name="Shape 10"/>
          <p:cNvSpPr/>
          <p:nvPr/>
        </p:nvSpPr>
        <p:spPr>
          <a:xfrm>
            <a:off x="8092440" y="4023360"/>
            <a:ext cx="320040" cy="320040"/>
          </a:xfrm>
          <a:prstGeom prst="ellipse">
            <a:avLst/>
          </a:prstGeom>
          <a:solidFill>
            <a:srgbClr val="D9603F"/>
          </a:solidFill>
          <a:ln w="12700">
            <a:solidFill>
              <a:srgbClr val="D9603F"/>
            </a:solidFill>
            <a:prstDash val="solid"/>
          </a:ln>
        </p:spPr>
      </p:sp>
      <p:sp>
        <p:nvSpPr>
          <p:cNvPr id="14" name="Text 11"/>
          <p:cNvSpPr/>
          <p:nvPr/>
        </p:nvSpPr>
        <p:spPr>
          <a:xfrm>
            <a:off x="8092440" y="402336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p:nvPr/>
        </p:nvSpPr>
        <p:spPr>
          <a:xfrm>
            <a:off x="8549640" y="397764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Insurance coverage is well-spread: BlueShield ($0.75M) just edges Aetna ($0.73M)</a:t>
            </a:r>
            <a:endParaRPr lang="en-US" sz="1150" dirty="0"/>
          </a:p>
        </p:txBody>
      </p:sp>
      <p:sp>
        <p:nvSpPr>
          <p:cNvPr id="16" name="Shape 13"/>
          <p:cNvSpPr/>
          <p:nvPr/>
        </p:nvSpPr>
        <p:spPr>
          <a:xfrm>
            <a:off x="8092440" y="4983480"/>
            <a:ext cx="320040" cy="320040"/>
          </a:xfrm>
          <a:prstGeom prst="ellipse">
            <a:avLst/>
          </a:prstGeom>
          <a:solidFill>
            <a:srgbClr val="D9603F"/>
          </a:solidFill>
          <a:ln w="12700">
            <a:solidFill>
              <a:srgbClr val="D9603F"/>
            </a:solidFill>
            <a:prstDash val="solid"/>
          </a:ln>
        </p:spPr>
      </p:sp>
      <p:sp>
        <p:nvSpPr>
          <p:cNvPr id="17" name="Text 14"/>
          <p:cNvSpPr/>
          <p:nvPr/>
        </p:nvSpPr>
        <p:spPr>
          <a:xfrm>
            <a:off x="8092440" y="498348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p:nvPr/>
        </p:nvSpPr>
        <p:spPr>
          <a:xfrm>
            <a:off x="8549640" y="493776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Gender split is balanced (F / M) across every city</a:t>
            </a:r>
            <a:endParaRPr lang="en-US" sz="1150" dirty="0"/>
          </a:p>
        </p:txBody>
      </p:sp>
      <p:sp>
        <p:nvSpPr>
          <p:cNvPr id="19" name="Text 16"/>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8A8275"/>
                </a:solidFill>
                <a:latin typeface="Calibri" pitchFamily="34" charset="0"/>
                <a:ea typeface="Calibri" pitchFamily="34" charset="-122"/>
                <a:cs typeface="Calibri" pitchFamily="34" charset="-120"/>
              </a:rPr>
              <a:t>5 / 14</a:t>
            </a:r>
            <a:endParaRPr lang="en-US" sz="900" dirty="0"/>
          </a:p>
        </p:txBody>
      </p:sp>
      <p:sp>
        <p:nvSpPr>
          <p:cNvPr id="20" name="Text 17"/>
          <p:cNvSpPr/>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8A8275"/>
                </a:solidFill>
                <a:latin typeface="Calibri" pitchFamily="34" charset="0"/>
                <a:ea typeface="Calibri" pitchFamily="34" charset="-122"/>
                <a:cs typeface="Calibri" pitchFamily="34" charset="-120"/>
              </a:rPr>
              <a:t>Vitalis Healthcare Project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04 · SPECIALTY DASHBOARD</a:t>
            </a:r>
            <a:endParaRPr lang="en-US" sz="1000" dirty="0"/>
          </a:p>
        </p:txBody>
      </p:sp>
      <p:sp>
        <p:nvSpPr>
          <p:cNvPr id="3" name="Text 1"/>
          <p:cNvSpPr/>
          <p:nvPr/>
        </p:nvSpPr>
        <p:spPr>
          <a:xfrm>
            <a:off x="457200" y="822960"/>
            <a:ext cx="10972800" cy="640080"/>
          </a:xfrm>
          <a:prstGeom prst="rect">
            <a:avLst/>
          </a:prstGeom>
          <a:noFill/>
          <a:ln/>
        </p:spPr>
        <p:txBody>
          <a:bodyPr wrap="square" lIns="0" tIns="0" rIns="0" bIns="0" rtlCol="0" anchor="ctr"/>
          <a:lstStyle/>
          <a:p>
            <a:pPr indent="0" marL="0">
              <a:buNone/>
            </a:pPr>
            <a:r>
              <a:rPr lang="en-US" sz="3000" b="1" dirty="0">
                <a:solidFill>
                  <a:srgbClr val="1A2530"/>
                </a:solidFill>
                <a:latin typeface="Georgia" pitchFamily="34" charset="0"/>
                <a:ea typeface="Georgia" pitchFamily="34" charset="-122"/>
                <a:cs typeface="Georgia" pitchFamily="34" charset="-120"/>
              </a:rPr>
              <a:t>Where the revenue comes from</a:t>
            </a:r>
            <a:endParaRPr lang="en-US" sz="3000" dirty="0"/>
          </a:p>
        </p:txBody>
      </p:sp>
      <p:sp>
        <p:nvSpPr>
          <p:cNvPr id="4" name="Shape 2"/>
          <p:cNvSpPr/>
          <p:nvPr/>
        </p:nvSpPr>
        <p:spPr>
          <a:xfrm>
            <a:off x="365760" y="1600200"/>
            <a:ext cx="7406640" cy="4663440"/>
          </a:xfrm>
          <a:prstGeom prst="roundRect">
            <a:avLst>
              <a:gd name="adj" fmla="val 2353"/>
            </a:avLst>
          </a:prstGeom>
          <a:solidFill>
            <a:srgbClr val="FBF9F4"/>
          </a:solidFill>
          <a:ln w="12700">
            <a:solidFill>
              <a:srgbClr val="D9D2BF"/>
            </a:solidFill>
            <a:prstDash val="solid"/>
          </a:ln>
        </p:spPr>
      </p:sp>
      <p:pic>
        <p:nvPicPr>
          <p:cNvPr id="5" name="Image 0" descr="/home/claude/docs/dash-specialty.jpg">    </p:cNvPr>
          <p:cNvPicPr>
            <a:picLocks noChangeAspect="1"/>
          </p:cNvPicPr>
          <p:nvPr/>
        </p:nvPicPr>
        <p:blipFill>
          <a:blip r:embed="rId1"/>
          <a:srcRect l="0" r="0" t="0" b="0"/>
          <a:stretch/>
        </p:blipFill>
        <p:spPr>
          <a:xfrm>
            <a:off x="502920" y="1737360"/>
            <a:ext cx="7132320" cy="4389120"/>
          </a:xfrm>
          <a:prstGeom prst="rect">
            <a:avLst/>
          </a:prstGeom>
        </p:spPr>
      </p:pic>
      <p:sp>
        <p:nvSpPr>
          <p:cNvPr id="6" name="Text 3"/>
          <p:cNvSpPr/>
          <p:nvPr/>
        </p:nvSpPr>
        <p:spPr>
          <a:xfrm>
            <a:off x="8092440" y="1691640"/>
            <a:ext cx="3840480" cy="32004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KEY OBSERVATIONS</a:t>
            </a:r>
            <a:endParaRPr lang="en-US" sz="1000" dirty="0"/>
          </a:p>
        </p:txBody>
      </p:sp>
      <p:sp>
        <p:nvSpPr>
          <p:cNvPr id="7" name="Shape 4"/>
          <p:cNvSpPr/>
          <p:nvPr/>
        </p:nvSpPr>
        <p:spPr>
          <a:xfrm>
            <a:off x="8092440" y="2103120"/>
            <a:ext cx="320040" cy="320040"/>
          </a:xfrm>
          <a:prstGeom prst="ellipse">
            <a:avLst/>
          </a:prstGeom>
          <a:solidFill>
            <a:srgbClr val="D9603F"/>
          </a:solidFill>
          <a:ln w="12700">
            <a:solidFill>
              <a:srgbClr val="D9603F"/>
            </a:solidFill>
            <a:prstDash val="solid"/>
          </a:ln>
        </p:spPr>
      </p:sp>
      <p:sp>
        <p:nvSpPr>
          <p:cNvPr id="8" name="Text 5"/>
          <p:cNvSpPr/>
          <p:nvPr/>
        </p:nvSpPr>
        <p:spPr>
          <a:xfrm>
            <a:off x="8092440" y="210312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8549640" y="205740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Total revenue: $6M across all specialties and clinics</a:t>
            </a:r>
            <a:endParaRPr lang="en-US" sz="1150" dirty="0"/>
          </a:p>
        </p:txBody>
      </p:sp>
      <p:sp>
        <p:nvSpPr>
          <p:cNvPr id="10" name="Shape 7"/>
          <p:cNvSpPr/>
          <p:nvPr/>
        </p:nvSpPr>
        <p:spPr>
          <a:xfrm>
            <a:off x="8092440" y="3063240"/>
            <a:ext cx="320040" cy="320040"/>
          </a:xfrm>
          <a:prstGeom prst="ellipse">
            <a:avLst/>
          </a:prstGeom>
          <a:solidFill>
            <a:srgbClr val="D9603F"/>
          </a:solidFill>
          <a:ln w="12700">
            <a:solidFill>
              <a:srgbClr val="D9603F"/>
            </a:solidFill>
            <a:prstDash val="solid"/>
          </a:ln>
        </p:spPr>
      </p:sp>
      <p:sp>
        <p:nvSpPr>
          <p:cNvPr id="11" name="Text 8"/>
          <p:cNvSpPr/>
          <p:nvPr/>
        </p:nvSpPr>
        <p:spPr>
          <a:xfrm>
            <a:off x="8092440" y="306324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8549640" y="301752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Orthopedics is the top specialty by revenue ($1.19M) and volume (3.8K appointments)</a:t>
            </a:r>
            <a:endParaRPr lang="en-US" sz="1150" dirty="0"/>
          </a:p>
        </p:txBody>
      </p:sp>
      <p:sp>
        <p:nvSpPr>
          <p:cNvPr id="13" name="Shape 10"/>
          <p:cNvSpPr/>
          <p:nvPr/>
        </p:nvSpPr>
        <p:spPr>
          <a:xfrm>
            <a:off x="8092440" y="4023360"/>
            <a:ext cx="320040" cy="320040"/>
          </a:xfrm>
          <a:prstGeom prst="ellipse">
            <a:avLst/>
          </a:prstGeom>
          <a:solidFill>
            <a:srgbClr val="D9603F"/>
          </a:solidFill>
          <a:ln w="12700">
            <a:solidFill>
              <a:srgbClr val="D9603F"/>
            </a:solidFill>
            <a:prstDash val="solid"/>
          </a:ln>
        </p:spPr>
      </p:sp>
      <p:sp>
        <p:nvSpPr>
          <p:cNvPr id="14" name="Text 11"/>
          <p:cNvSpPr/>
          <p:nvPr/>
        </p:nvSpPr>
        <p:spPr>
          <a:xfrm>
            <a:off x="8092440" y="402336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p:nvPr/>
        </p:nvSpPr>
        <p:spPr>
          <a:xfrm>
            <a:off x="8549640" y="397764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Seattle leads clinic revenue at $1.43M; Olympia trails at $1.08M</a:t>
            </a:r>
            <a:endParaRPr lang="en-US" sz="1150" dirty="0"/>
          </a:p>
        </p:txBody>
      </p:sp>
      <p:sp>
        <p:nvSpPr>
          <p:cNvPr id="16" name="Shape 13"/>
          <p:cNvSpPr/>
          <p:nvPr/>
        </p:nvSpPr>
        <p:spPr>
          <a:xfrm>
            <a:off x="8092440" y="4983480"/>
            <a:ext cx="320040" cy="320040"/>
          </a:xfrm>
          <a:prstGeom prst="ellipse">
            <a:avLst/>
          </a:prstGeom>
          <a:solidFill>
            <a:srgbClr val="D9603F"/>
          </a:solidFill>
          <a:ln w="12700">
            <a:solidFill>
              <a:srgbClr val="D9603F"/>
            </a:solidFill>
            <a:prstDash val="solid"/>
          </a:ln>
        </p:spPr>
      </p:sp>
      <p:sp>
        <p:nvSpPr>
          <p:cNvPr id="17" name="Text 14"/>
          <p:cNvSpPr/>
          <p:nvPr/>
        </p:nvSpPr>
        <p:spPr>
          <a:xfrm>
            <a:off x="8092440" y="498348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p:nvPr/>
        </p:nvSpPr>
        <p:spPr>
          <a:xfrm>
            <a:off x="8549640" y="493776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General Medicine is lowest-grossing at $0.66M</a:t>
            </a:r>
            <a:endParaRPr lang="en-US" sz="1150" dirty="0"/>
          </a:p>
        </p:txBody>
      </p:sp>
      <p:sp>
        <p:nvSpPr>
          <p:cNvPr id="19" name="Text 16"/>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8A8275"/>
                </a:solidFill>
                <a:latin typeface="Calibri" pitchFamily="34" charset="0"/>
                <a:ea typeface="Calibri" pitchFamily="34" charset="-122"/>
                <a:cs typeface="Calibri" pitchFamily="34" charset="-120"/>
              </a:rPr>
              <a:t>6 / 14</a:t>
            </a:r>
            <a:endParaRPr lang="en-US" sz="900" dirty="0"/>
          </a:p>
        </p:txBody>
      </p:sp>
      <p:sp>
        <p:nvSpPr>
          <p:cNvPr id="20" name="Text 17"/>
          <p:cNvSpPr/>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8A8275"/>
                </a:solidFill>
                <a:latin typeface="Calibri" pitchFamily="34" charset="0"/>
                <a:ea typeface="Calibri" pitchFamily="34" charset="-122"/>
                <a:cs typeface="Calibri" pitchFamily="34" charset="-120"/>
              </a:rPr>
              <a:t>Vitalis Healthcare Project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04 · DIAGNOSIS DASHBOARD</a:t>
            </a:r>
            <a:endParaRPr lang="en-US" sz="1000" dirty="0"/>
          </a:p>
        </p:txBody>
      </p:sp>
      <p:sp>
        <p:nvSpPr>
          <p:cNvPr id="3" name="Text 1"/>
          <p:cNvSpPr/>
          <p:nvPr/>
        </p:nvSpPr>
        <p:spPr>
          <a:xfrm>
            <a:off x="457200" y="822960"/>
            <a:ext cx="10972800" cy="640080"/>
          </a:xfrm>
          <a:prstGeom prst="rect">
            <a:avLst/>
          </a:prstGeom>
          <a:noFill/>
          <a:ln/>
        </p:spPr>
        <p:txBody>
          <a:bodyPr wrap="square" lIns="0" tIns="0" rIns="0" bIns="0" rtlCol="0" anchor="ctr"/>
          <a:lstStyle/>
          <a:p>
            <a:pPr indent="0" marL="0">
              <a:buNone/>
            </a:pPr>
            <a:r>
              <a:rPr lang="en-US" sz="3000" b="1" dirty="0">
                <a:solidFill>
                  <a:srgbClr val="1A2530"/>
                </a:solidFill>
                <a:latin typeface="Georgia" pitchFamily="34" charset="0"/>
                <a:ea typeface="Georgia" pitchFamily="34" charset="-122"/>
                <a:cs typeface="Georgia" pitchFamily="34" charset="-120"/>
              </a:rPr>
              <a:t>What the patients have</a:t>
            </a:r>
            <a:endParaRPr lang="en-US" sz="3000" dirty="0"/>
          </a:p>
        </p:txBody>
      </p:sp>
      <p:sp>
        <p:nvSpPr>
          <p:cNvPr id="4" name="Shape 2"/>
          <p:cNvSpPr/>
          <p:nvPr/>
        </p:nvSpPr>
        <p:spPr>
          <a:xfrm>
            <a:off x="365760" y="1600200"/>
            <a:ext cx="7406640" cy="4663440"/>
          </a:xfrm>
          <a:prstGeom prst="roundRect">
            <a:avLst>
              <a:gd name="adj" fmla="val 2353"/>
            </a:avLst>
          </a:prstGeom>
          <a:solidFill>
            <a:srgbClr val="FBF9F4"/>
          </a:solidFill>
          <a:ln w="12700">
            <a:solidFill>
              <a:srgbClr val="D9D2BF"/>
            </a:solidFill>
            <a:prstDash val="solid"/>
          </a:ln>
        </p:spPr>
      </p:sp>
      <p:pic>
        <p:nvPicPr>
          <p:cNvPr id="5" name="Image 0" descr="/home/claude/docs/dash-diagnosis.jpg">    </p:cNvPr>
          <p:cNvPicPr>
            <a:picLocks noChangeAspect="1"/>
          </p:cNvPicPr>
          <p:nvPr/>
        </p:nvPicPr>
        <p:blipFill>
          <a:blip r:embed="rId1"/>
          <a:srcRect l="0" r="0" t="0" b="0"/>
          <a:stretch/>
        </p:blipFill>
        <p:spPr>
          <a:xfrm>
            <a:off x="502920" y="1737360"/>
            <a:ext cx="7132320" cy="4389120"/>
          </a:xfrm>
          <a:prstGeom prst="rect">
            <a:avLst/>
          </a:prstGeom>
        </p:spPr>
      </p:pic>
      <p:sp>
        <p:nvSpPr>
          <p:cNvPr id="6" name="Text 3"/>
          <p:cNvSpPr/>
          <p:nvPr/>
        </p:nvSpPr>
        <p:spPr>
          <a:xfrm>
            <a:off x="8092440" y="1691640"/>
            <a:ext cx="3840480" cy="32004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KEY OBSERVATIONS</a:t>
            </a:r>
            <a:endParaRPr lang="en-US" sz="1000" dirty="0"/>
          </a:p>
        </p:txBody>
      </p:sp>
      <p:sp>
        <p:nvSpPr>
          <p:cNvPr id="7" name="Shape 4"/>
          <p:cNvSpPr/>
          <p:nvPr/>
        </p:nvSpPr>
        <p:spPr>
          <a:xfrm>
            <a:off x="8092440" y="2103120"/>
            <a:ext cx="320040" cy="320040"/>
          </a:xfrm>
          <a:prstGeom prst="ellipse">
            <a:avLst/>
          </a:prstGeom>
          <a:solidFill>
            <a:srgbClr val="D9603F"/>
          </a:solidFill>
          <a:ln w="12700">
            <a:solidFill>
              <a:srgbClr val="D9603F"/>
            </a:solidFill>
            <a:prstDash val="solid"/>
          </a:ln>
        </p:spPr>
      </p:sp>
      <p:sp>
        <p:nvSpPr>
          <p:cNvPr id="8" name="Text 5"/>
          <p:cNvSpPr/>
          <p:nvPr/>
        </p:nvSpPr>
        <p:spPr>
          <a:xfrm>
            <a:off x="8092440" y="210312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8549640" y="205740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15,000 diagnoses recorded across the patient population</a:t>
            </a:r>
            <a:endParaRPr lang="en-US" sz="1150" dirty="0"/>
          </a:p>
        </p:txBody>
      </p:sp>
      <p:sp>
        <p:nvSpPr>
          <p:cNvPr id="10" name="Shape 7"/>
          <p:cNvSpPr/>
          <p:nvPr/>
        </p:nvSpPr>
        <p:spPr>
          <a:xfrm>
            <a:off x="8092440" y="3063240"/>
            <a:ext cx="320040" cy="320040"/>
          </a:xfrm>
          <a:prstGeom prst="ellipse">
            <a:avLst/>
          </a:prstGeom>
          <a:solidFill>
            <a:srgbClr val="D9603F"/>
          </a:solidFill>
          <a:ln w="12700">
            <a:solidFill>
              <a:srgbClr val="D9603F"/>
            </a:solidFill>
            <a:prstDash val="solid"/>
          </a:ln>
        </p:spPr>
      </p:sp>
      <p:sp>
        <p:nvSpPr>
          <p:cNvPr id="11" name="Text 8"/>
          <p:cNvSpPr/>
          <p:nvPr/>
        </p:nvSpPr>
        <p:spPr>
          <a:xfrm>
            <a:off x="8092440" y="306324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8549640" y="301752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4,921 patients carry a hypertension diagnosis (I10)</a:t>
            </a:r>
            <a:endParaRPr lang="en-US" sz="1150" dirty="0"/>
          </a:p>
        </p:txBody>
      </p:sp>
      <p:sp>
        <p:nvSpPr>
          <p:cNvPr id="13" name="Shape 10"/>
          <p:cNvSpPr/>
          <p:nvPr/>
        </p:nvSpPr>
        <p:spPr>
          <a:xfrm>
            <a:off x="8092440" y="4023360"/>
            <a:ext cx="320040" cy="320040"/>
          </a:xfrm>
          <a:prstGeom prst="ellipse">
            <a:avLst/>
          </a:prstGeom>
          <a:solidFill>
            <a:srgbClr val="D9603F"/>
          </a:solidFill>
          <a:ln w="12700">
            <a:solidFill>
              <a:srgbClr val="D9603F"/>
            </a:solidFill>
            <a:prstDash val="solid"/>
          </a:ln>
        </p:spPr>
      </p:sp>
      <p:sp>
        <p:nvSpPr>
          <p:cNvPr id="14" name="Text 11"/>
          <p:cNvSpPr/>
          <p:nvPr/>
        </p:nvSpPr>
        <p:spPr>
          <a:xfrm>
            <a:off x="8092440" y="402336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p:nvPr/>
        </p:nvSpPr>
        <p:spPr>
          <a:xfrm>
            <a:off x="8549640" y="397764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3,533 patients have multiple concurrent diagnoses</a:t>
            </a:r>
            <a:endParaRPr lang="en-US" sz="1150" dirty="0"/>
          </a:p>
        </p:txBody>
      </p:sp>
      <p:sp>
        <p:nvSpPr>
          <p:cNvPr id="16" name="Shape 13"/>
          <p:cNvSpPr/>
          <p:nvPr/>
        </p:nvSpPr>
        <p:spPr>
          <a:xfrm>
            <a:off x="8092440" y="4983480"/>
            <a:ext cx="320040" cy="320040"/>
          </a:xfrm>
          <a:prstGeom prst="ellipse">
            <a:avLst/>
          </a:prstGeom>
          <a:solidFill>
            <a:srgbClr val="D9603F"/>
          </a:solidFill>
          <a:ln w="12700">
            <a:solidFill>
              <a:srgbClr val="D9603F"/>
            </a:solidFill>
            <a:prstDash val="solid"/>
          </a:ln>
        </p:spPr>
      </p:sp>
      <p:sp>
        <p:nvSpPr>
          <p:cNvPr id="17" name="Text 14"/>
          <p:cNvSpPr/>
          <p:nvPr/>
        </p:nvSpPr>
        <p:spPr>
          <a:xfrm>
            <a:off x="8092440" y="498348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p:nvPr/>
        </p:nvSpPr>
        <p:spPr>
          <a:xfrm>
            <a:off x="8549640" y="493776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Diagnosis counts are roughly even across codes — no single condition dominates</a:t>
            </a:r>
            <a:endParaRPr lang="en-US" sz="1150" dirty="0"/>
          </a:p>
        </p:txBody>
      </p:sp>
      <p:sp>
        <p:nvSpPr>
          <p:cNvPr id="19" name="Text 16"/>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8A8275"/>
                </a:solidFill>
                <a:latin typeface="Calibri" pitchFamily="34" charset="0"/>
                <a:ea typeface="Calibri" pitchFamily="34" charset="-122"/>
                <a:cs typeface="Calibri" pitchFamily="34" charset="-120"/>
              </a:rPr>
              <a:t>7 / 14</a:t>
            </a:r>
            <a:endParaRPr lang="en-US" sz="900" dirty="0"/>
          </a:p>
        </p:txBody>
      </p:sp>
      <p:sp>
        <p:nvSpPr>
          <p:cNvPr id="20" name="Text 17"/>
          <p:cNvSpPr/>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8A8275"/>
                </a:solidFill>
                <a:latin typeface="Calibri" pitchFamily="34" charset="0"/>
                <a:ea typeface="Calibri" pitchFamily="34" charset="-122"/>
                <a:cs typeface="Calibri" pitchFamily="34" charset="-120"/>
              </a:rPr>
              <a:t>Vitalis Healthcare Project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04 · FINANCIAL DASHBOARD</a:t>
            </a:r>
            <a:endParaRPr lang="en-US" sz="1000" dirty="0"/>
          </a:p>
        </p:txBody>
      </p:sp>
      <p:sp>
        <p:nvSpPr>
          <p:cNvPr id="3" name="Text 1"/>
          <p:cNvSpPr/>
          <p:nvPr/>
        </p:nvSpPr>
        <p:spPr>
          <a:xfrm>
            <a:off x="457200" y="822960"/>
            <a:ext cx="10972800" cy="640080"/>
          </a:xfrm>
          <a:prstGeom prst="rect">
            <a:avLst/>
          </a:prstGeom>
          <a:noFill/>
          <a:ln/>
        </p:spPr>
        <p:txBody>
          <a:bodyPr wrap="square" lIns="0" tIns="0" rIns="0" bIns="0" rtlCol="0" anchor="ctr"/>
          <a:lstStyle/>
          <a:p>
            <a:pPr indent="0" marL="0">
              <a:buNone/>
            </a:pPr>
            <a:r>
              <a:rPr lang="en-US" sz="3000" b="1" dirty="0">
                <a:solidFill>
                  <a:srgbClr val="1A2530"/>
                </a:solidFill>
                <a:latin typeface="Georgia" pitchFamily="34" charset="0"/>
                <a:ea typeface="Georgia" pitchFamily="34" charset="-122"/>
                <a:cs typeface="Georgia" pitchFamily="34" charset="-120"/>
              </a:rPr>
              <a:t>How the money flows</a:t>
            </a:r>
            <a:endParaRPr lang="en-US" sz="3000" dirty="0"/>
          </a:p>
        </p:txBody>
      </p:sp>
      <p:sp>
        <p:nvSpPr>
          <p:cNvPr id="4" name="Shape 2"/>
          <p:cNvSpPr/>
          <p:nvPr/>
        </p:nvSpPr>
        <p:spPr>
          <a:xfrm>
            <a:off x="365760" y="1600200"/>
            <a:ext cx="7406640" cy="4663440"/>
          </a:xfrm>
          <a:prstGeom prst="roundRect">
            <a:avLst>
              <a:gd name="adj" fmla="val 2353"/>
            </a:avLst>
          </a:prstGeom>
          <a:solidFill>
            <a:srgbClr val="FBF9F4"/>
          </a:solidFill>
          <a:ln w="12700">
            <a:solidFill>
              <a:srgbClr val="D9D2BF"/>
            </a:solidFill>
            <a:prstDash val="solid"/>
          </a:ln>
        </p:spPr>
      </p:sp>
      <p:pic>
        <p:nvPicPr>
          <p:cNvPr id="5" name="Image 0" descr="/home/claude/docs/dash-financial.jpg">    </p:cNvPr>
          <p:cNvPicPr>
            <a:picLocks noChangeAspect="1"/>
          </p:cNvPicPr>
          <p:nvPr/>
        </p:nvPicPr>
        <p:blipFill>
          <a:blip r:embed="rId1"/>
          <a:srcRect l="0" r="0" t="0" b="0"/>
          <a:stretch/>
        </p:blipFill>
        <p:spPr>
          <a:xfrm>
            <a:off x="502920" y="1737360"/>
            <a:ext cx="7132320" cy="4389120"/>
          </a:xfrm>
          <a:prstGeom prst="rect">
            <a:avLst/>
          </a:prstGeom>
        </p:spPr>
      </p:pic>
      <p:sp>
        <p:nvSpPr>
          <p:cNvPr id="6" name="Text 3"/>
          <p:cNvSpPr/>
          <p:nvPr/>
        </p:nvSpPr>
        <p:spPr>
          <a:xfrm>
            <a:off x="8092440" y="1691640"/>
            <a:ext cx="3840480" cy="32004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KEY OBSERVATIONS</a:t>
            </a:r>
            <a:endParaRPr lang="en-US" sz="1000" dirty="0"/>
          </a:p>
        </p:txBody>
      </p:sp>
      <p:sp>
        <p:nvSpPr>
          <p:cNvPr id="7" name="Shape 4"/>
          <p:cNvSpPr/>
          <p:nvPr/>
        </p:nvSpPr>
        <p:spPr>
          <a:xfrm>
            <a:off x="8092440" y="2103120"/>
            <a:ext cx="320040" cy="320040"/>
          </a:xfrm>
          <a:prstGeom prst="ellipse">
            <a:avLst/>
          </a:prstGeom>
          <a:solidFill>
            <a:srgbClr val="D9603F"/>
          </a:solidFill>
          <a:ln w="12700">
            <a:solidFill>
              <a:srgbClr val="D9603F"/>
            </a:solidFill>
            <a:prstDash val="solid"/>
          </a:ln>
        </p:spPr>
      </p:sp>
      <p:sp>
        <p:nvSpPr>
          <p:cNvPr id="8" name="Text 5"/>
          <p:cNvSpPr/>
          <p:nvPr/>
        </p:nvSpPr>
        <p:spPr>
          <a:xfrm>
            <a:off x="8092440" y="210312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8549640" y="205740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$6M total billed · $3M paid by patients · 3,545 patients with low coverage</a:t>
            </a:r>
            <a:endParaRPr lang="en-US" sz="1150" dirty="0"/>
          </a:p>
        </p:txBody>
      </p:sp>
      <p:sp>
        <p:nvSpPr>
          <p:cNvPr id="10" name="Shape 7"/>
          <p:cNvSpPr/>
          <p:nvPr/>
        </p:nvSpPr>
        <p:spPr>
          <a:xfrm>
            <a:off x="8092440" y="3063240"/>
            <a:ext cx="320040" cy="320040"/>
          </a:xfrm>
          <a:prstGeom prst="ellipse">
            <a:avLst/>
          </a:prstGeom>
          <a:solidFill>
            <a:srgbClr val="D9603F"/>
          </a:solidFill>
          <a:ln w="12700">
            <a:solidFill>
              <a:srgbClr val="D9603F"/>
            </a:solidFill>
            <a:prstDash val="solid"/>
          </a:ln>
        </p:spPr>
      </p:sp>
      <p:sp>
        <p:nvSpPr>
          <p:cNvPr id="11" name="Text 8"/>
          <p:cNvSpPr/>
          <p:nvPr/>
        </p:nvSpPr>
        <p:spPr>
          <a:xfrm>
            <a:off x="8092440" y="306324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8549640" y="301752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Age 65+ generates the highest billed amount: $1.80M</a:t>
            </a:r>
            <a:endParaRPr lang="en-US" sz="1150" dirty="0"/>
          </a:p>
        </p:txBody>
      </p:sp>
      <p:sp>
        <p:nvSpPr>
          <p:cNvPr id="13" name="Shape 10"/>
          <p:cNvSpPr/>
          <p:nvPr/>
        </p:nvSpPr>
        <p:spPr>
          <a:xfrm>
            <a:off x="8092440" y="4023360"/>
            <a:ext cx="320040" cy="320040"/>
          </a:xfrm>
          <a:prstGeom prst="ellipse">
            <a:avLst/>
          </a:prstGeom>
          <a:solidFill>
            <a:srgbClr val="D9603F"/>
          </a:solidFill>
          <a:ln w="12700">
            <a:solidFill>
              <a:srgbClr val="D9603F"/>
            </a:solidFill>
            <a:prstDash val="solid"/>
          </a:ln>
        </p:spPr>
      </p:sp>
      <p:sp>
        <p:nvSpPr>
          <p:cNvPr id="14" name="Text 11"/>
          <p:cNvSpPr/>
          <p:nvPr/>
        </p:nvSpPr>
        <p:spPr>
          <a:xfrm>
            <a:off x="8092440" y="402336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p:nvPr/>
        </p:nvSpPr>
        <p:spPr>
          <a:xfrm>
            <a:off x="8549640" y="397764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Orthopedics + Cardiology together drive $2.31M (39% of revenue)</a:t>
            </a:r>
            <a:endParaRPr lang="en-US" sz="1150" dirty="0"/>
          </a:p>
        </p:txBody>
      </p:sp>
      <p:sp>
        <p:nvSpPr>
          <p:cNvPr id="16" name="Shape 13"/>
          <p:cNvSpPr/>
          <p:nvPr/>
        </p:nvSpPr>
        <p:spPr>
          <a:xfrm>
            <a:off x="8092440" y="4983480"/>
            <a:ext cx="320040" cy="320040"/>
          </a:xfrm>
          <a:prstGeom prst="ellipse">
            <a:avLst/>
          </a:prstGeom>
          <a:solidFill>
            <a:srgbClr val="D9603F"/>
          </a:solidFill>
          <a:ln w="12700">
            <a:solidFill>
              <a:srgbClr val="D9603F"/>
            </a:solidFill>
            <a:prstDash val="solid"/>
          </a:ln>
        </p:spPr>
      </p:sp>
      <p:sp>
        <p:nvSpPr>
          <p:cNvPr id="17" name="Text 14"/>
          <p:cNvSpPr/>
          <p:nvPr/>
        </p:nvSpPr>
        <p:spPr>
          <a:xfrm>
            <a:off x="8092440" y="498348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p:nvPr/>
        </p:nvSpPr>
        <p:spPr>
          <a:xfrm>
            <a:off x="8549640" y="493776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Seattle clinic outperforms Olympia by 32% in revenue</a:t>
            </a:r>
            <a:endParaRPr lang="en-US" sz="1150" dirty="0"/>
          </a:p>
        </p:txBody>
      </p:sp>
      <p:sp>
        <p:nvSpPr>
          <p:cNvPr id="19" name="Text 16"/>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8A8275"/>
                </a:solidFill>
                <a:latin typeface="Calibri" pitchFamily="34" charset="0"/>
                <a:ea typeface="Calibri" pitchFamily="34" charset="-122"/>
                <a:cs typeface="Calibri" pitchFamily="34" charset="-120"/>
              </a:rPr>
              <a:t>8 / 14</a:t>
            </a:r>
            <a:endParaRPr lang="en-US" sz="900" dirty="0"/>
          </a:p>
        </p:txBody>
      </p:sp>
      <p:sp>
        <p:nvSpPr>
          <p:cNvPr id="20" name="Text 17"/>
          <p:cNvSpPr/>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8A8275"/>
                </a:solidFill>
                <a:latin typeface="Calibri" pitchFamily="34" charset="0"/>
                <a:ea typeface="Calibri" pitchFamily="34" charset="-122"/>
                <a:cs typeface="Calibri" pitchFamily="34" charset="-120"/>
              </a:rPr>
              <a:t>Vitalis Healthcare Project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04 · OPERATIONS DASHBOARD</a:t>
            </a:r>
            <a:endParaRPr lang="en-US" sz="1000" dirty="0"/>
          </a:p>
        </p:txBody>
      </p:sp>
      <p:sp>
        <p:nvSpPr>
          <p:cNvPr id="3" name="Text 1"/>
          <p:cNvSpPr/>
          <p:nvPr/>
        </p:nvSpPr>
        <p:spPr>
          <a:xfrm>
            <a:off x="457200" y="822960"/>
            <a:ext cx="10972800" cy="640080"/>
          </a:xfrm>
          <a:prstGeom prst="rect">
            <a:avLst/>
          </a:prstGeom>
          <a:noFill/>
          <a:ln/>
        </p:spPr>
        <p:txBody>
          <a:bodyPr wrap="square" lIns="0" tIns="0" rIns="0" bIns="0" rtlCol="0" anchor="ctr"/>
          <a:lstStyle/>
          <a:p>
            <a:pPr indent="0" marL="0">
              <a:buNone/>
            </a:pPr>
            <a:r>
              <a:rPr lang="en-US" sz="3000" b="1" dirty="0">
                <a:solidFill>
                  <a:srgbClr val="1A2530"/>
                </a:solidFill>
                <a:latin typeface="Georgia" pitchFamily="34" charset="0"/>
                <a:ea typeface="Georgia" pitchFamily="34" charset="-122"/>
                <a:cs typeface="Georgia" pitchFamily="34" charset="-120"/>
              </a:rPr>
              <a:t>How the practice runs</a:t>
            </a:r>
            <a:endParaRPr lang="en-US" sz="3000" dirty="0"/>
          </a:p>
        </p:txBody>
      </p:sp>
      <p:sp>
        <p:nvSpPr>
          <p:cNvPr id="4" name="Shape 2"/>
          <p:cNvSpPr/>
          <p:nvPr/>
        </p:nvSpPr>
        <p:spPr>
          <a:xfrm>
            <a:off x="365760" y="1600200"/>
            <a:ext cx="7406640" cy="4663440"/>
          </a:xfrm>
          <a:prstGeom prst="roundRect">
            <a:avLst>
              <a:gd name="adj" fmla="val 2353"/>
            </a:avLst>
          </a:prstGeom>
          <a:solidFill>
            <a:srgbClr val="FBF9F4"/>
          </a:solidFill>
          <a:ln w="12700">
            <a:solidFill>
              <a:srgbClr val="D9D2BF"/>
            </a:solidFill>
            <a:prstDash val="solid"/>
          </a:ln>
        </p:spPr>
      </p:sp>
      <p:pic>
        <p:nvPicPr>
          <p:cNvPr id="5" name="Image 0" descr="/home/claude/docs/dash-appointments.jpg">    </p:cNvPr>
          <p:cNvPicPr>
            <a:picLocks noChangeAspect="1"/>
          </p:cNvPicPr>
          <p:nvPr/>
        </p:nvPicPr>
        <p:blipFill>
          <a:blip r:embed="rId1"/>
          <a:srcRect l="0" r="0" t="0" b="0"/>
          <a:stretch/>
        </p:blipFill>
        <p:spPr>
          <a:xfrm>
            <a:off x="502920" y="1737360"/>
            <a:ext cx="7132320" cy="4389120"/>
          </a:xfrm>
          <a:prstGeom prst="rect">
            <a:avLst/>
          </a:prstGeom>
        </p:spPr>
      </p:pic>
      <p:sp>
        <p:nvSpPr>
          <p:cNvPr id="6" name="Text 3"/>
          <p:cNvSpPr/>
          <p:nvPr/>
        </p:nvSpPr>
        <p:spPr>
          <a:xfrm>
            <a:off x="8092440" y="1691640"/>
            <a:ext cx="3840480" cy="32004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KEY OBSERVATIONS</a:t>
            </a:r>
            <a:endParaRPr lang="en-US" sz="1000" dirty="0"/>
          </a:p>
        </p:txBody>
      </p:sp>
      <p:sp>
        <p:nvSpPr>
          <p:cNvPr id="7" name="Shape 4"/>
          <p:cNvSpPr/>
          <p:nvPr/>
        </p:nvSpPr>
        <p:spPr>
          <a:xfrm>
            <a:off x="8092440" y="2103120"/>
            <a:ext cx="320040" cy="320040"/>
          </a:xfrm>
          <a:prstGeom prst="ellipse">
            <a:avLst/>
          </a:prstGeom>
          <a:solidFill>
            <a:srgbClr val="D9603F"/>
          </a:solidFill>
          <a:ln w="12700">
            <a:solidFill>
              <a:srgbClr val="D9603F"/>
            </a:solidFill>
            <a:prstDash val="solid"/>
          </a:ln>
        </p:spPr>
      </p:sp>
      <p:sp>
        <p:nvSpPr>
          <p:cNvPr id="8" name="Text 5"/>
          <p:cNvSpPr/>
          <p:nvPr/>
        </p:nvSpPr>
        <p:spPr>
          <a:xfrm>
            <a:off x="8092440" y="210312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8549640" y="205740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20,000 total appointments · 6.6K no-shows (33% — major operational drag)</a:t>
            </a:r>
            <a:endParaRPr lang="en-US" sz="1150" dirty="0"/>
          </a:p>
        </p:txBody>
      </p:sp>
      <p:sp>
        <p:nvSpPr>
          <p:cNvPr id="10" name="Shape 7"/>
          <p:cNvSpPr/>
          <p:nvPr/>
        </p:nvSpPr>
        <p:spPr>
          <a:xfrm>
            <a:off x="8092440" y="3063240"/>
            <a:ext cx="320040" cy="320040"/>
          </a:xfrm>
          <a:prstGeom prst="ellipse">
            <a:avLst/>
          </a:prstGeom>
          <a:solidFill>
            <a:srgbClr val="D9603F"/>
          </a:solidFill>
          <a:ln w="12700">
            <a:solidFill>
              <a:srgbClr val="D9603F"/>
            </a:solidFill>
            <a:prstDash val="solid"/>
          </a:ln>
        </p:spPr>
      </p:sp>
      <p:sp>
        <p:nvSpPr>
          <p:cNvPr id="11" name="Text 8"/>
          <p:cNvSpPr/>
          <p:nvPr/>
        </p:nvSpPr>
        <p:spPr>
          <a:xfrm>
            <a:off x="8092440" y="306324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8549640" y="301752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Appointment volume is flat across weekdays (2.8K–2.9K) — no peak day</a:t>
            </a:r>
            <a:endParaRPr lang="en-US" sz="1150" dirty="0"/>
          </a:p>
        </p:txBody>
      </p:sp>
      <p:sp>
        <p:nvSpPr>
          <p:cNvPr id="13" name="Shape 10"/>
          <p:cNvSpPr/>
          <p:nvPr/>
        </p:nvSpPr>
        <p:spPr>
          <a:xfrm>
            <a:off x="8092440" y="4023360"/>
            <a:ext cx="320040" cy="320040"/>
          </a:xfrm>
          <a:prstGeom prst="ellipse">
            <a:avLst/>
          </a:prstGeom>
          <a:solidFill>
            <a:srgbClr val="D9603F"/>
          </a:solidFill>
          <a:ln w="12700">
            <a:solidFill>
              <a:srgbClr val="D9603F"/>
            </a:solidFill>
            <a:prstDash val="solid"/>
          </a:ln>
        </p:spPr>
      </p:sp>
      <p:sp>
        <p:nvSpPr>
          <p:cNvPr id="14" name="Text 11"/>
          <p:cNvSpPr/>
          <p:nvPr/>
        </p:nvSpPr>
        <p:spPr>
          <a:xfrm>
            <a:off x="8092440" y="402336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p:nvPr/>
        </p:nvSpPr>
        <p:spPr>
          <a:xfrm>
            <a:off x="8549640" y="397764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Completed appointments peaked in August at 598</a:t>
            </a:r>
            <a:endParaRPr lang="en-US" sz="1150" dirty="0"/>
          </a:p>
        </p:txBody>
      </p:sp>
      <p:sp>
        <p:nvSpPr>
          <p:cNvPr id="16" name="Shape 13"/>
          <p:cNvSpPr/>
          <p:nvPr/>
        </p:nvSpPr>
        <p:spPr>
          <a:xfrm>
            <a:off x="8092440" y="4983480"/>
            <a:ext cx="320040" cy="320040"/>
          </a:xfrm>
          <a:prstGeom prst="ellipse">
            <a:avLst/>
          </a:prstGeom>
          <a:solidFill>
            <a:srgbClr val="D9603F"/>
          </a:solidFill>
          <a:ln w="12700">
            <a:solidFill>
              <a:srgbClr val="D9603F"/>
            </a:solidFill>
            <a:prstDash val="solid"/>
          </a:ln>
        </p:spPr>
      </p:sp>
      <p:sp>
        <p:nvSpPr>
          <p:cNvPr id="17" name="Text 14"/>
          <p:cNvSpPr/>
          <p:nvPr/>
        </p:nvSpPr>
        <p:spPr>
          <a:xfrm>
            <a:off x="8092440" y="498348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p:nvPr/>
        </p:nvSpPr>
        <p:spPr>
          <a:xfrm>
            <a:off x="8549640" y="493776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Status distribution is nearly even: 6.7K completed / 6.6K cancelled / 6.6K no-show</a:t>
            </a:r>
            <a:endParaRPr lang="en-US" sz="1150" dirty="0"/>
          </a:p>
        </p:txBody>
      </p:sp>
      <p:sp>
        <p:nvSpPr>
          <p:cNvPr id="19" name="Text 16"/>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8A8275"/>
                </a:solidFill>
                <a:latin typeface="Calibri" pitchFamily="34" charset="0"/>
                <a:ea typeface="Calibri" pitchFamily="34" charset="-122"/>
                <a:cs typeface="Calibri" pitchFamily="34" charset="-120"/>
              </a:rPr>
              <a:t>9 / 14</a:t>
            </a:r>
            <a:endParaRPr lang="en-US" sz="900" dirty="0"/>
          </a:p>
        </p:txBody>
      </p:sp>
      <p:sp>
        <p:nvSpPr>
          <p:cNvPr id="20" name="Text 17"/>
          <p:cNvSpPr/>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8A8275"/>
                </a:solidFill>
                <a:latin typeface="Calibri" pitchFamily="34" charset="0"/>
                <a:ea typeface="Calibri" pitchFamily="34" charset="-122"/>
                <a:cs typeface="Calibri" pitchFamily="34" charset="-120"/>
              </a:rPr>
              <a:t>Vitalis Healthcare Project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04 · PATIENT BREAKDOWN</a:t>
            </a:r>
            <a:endParaRPr lang="en-US" sz="1000" dirty="0"/>
          </a:p>
        </p:txBody>
      </p:sp>
      <p:sp>
        <p:nvSpPr>
          <p:cNvPr id="3" name="Text 1"/>
          <p:cNvSpPr/>
          <p:nvPr/>
        </p:nvSpPr>
        <p:spPr>
          <a:xfrm>
            <a:off x="457200" y="822960"/>
            <a:ext cx="10972800" cy="640080"/>
          </a:xfrm>
          <a:prstGeom prst="rect">
            <a:avLst/>
          </a:prstGeom>
          <a:noFill/>
          <a:ln/>
        </p:spPr>
        <p:txBody>
          <a:bodyPr wrap="square" lIns="0" tIns="0" rIns="0" bIns="0" rtlCol="0" anchor="ctr"/>
          <a:lstStyle/>
          <a:p>
            <a:pPr indent="0" marL="0">
              <a:buNone/>
            </a:pPr>
            <a:r>
              <a:rPr lang="en-US" sz="3000" b="1" dirty="0">
                <a:solidFill>
                  <a:srgbClr val="1A2530"/>
                </a:solidFill>
                <a:latin typeface="Georgia" pitchFamily="34" charset="0"/>
                <a:ea typeface="Georgia" pitchFamily="34" charset="-122"/>
                <a:cs typeface="Georgia" pitchFamily="34" charset="-120"/>
              </a:rPr>
              <a:t>Population distribution</a:t>
            </a:r>
            <a:endParaRPr lang="en-US" sz="3000" dirty="0"/>
          </a:p>
        </p:txBody>
      </p:sp>
      <p:sp>
        <p:nvSpPr>
          <p:cNvPr id="4" name="Shape 2"/>
          <p:cNvSpPr/>
          <p:nvPr/>
        </p:nvSpPr>
        <p:spPr>
          <a:xfrm>
            <a:off x="365760" y="1600200"/>
            <a:ext cx="7406640" cy="4663440"/>
          </a:xfrm>
          <a:prstGeom prst="roundRect">
            <a:avLst>
              <a:gd name="adj" fmla="val 2353"/>
            </a:avLst>
          </a:prstGeom>
          <a:solidFill>
            <a:srgbClr val="FBF9F4"/>
          </a:solidFill>
          <a:ln w="12700">
            <a:solidFill>
              <a:srgbClr val="D9D2BF"/>
            </a:solidFill>
            <a:prstDash val="solid"/>
          </a:ln>
        </p:spPr>
      </p:sp>
      <p:pic>
        <p:nvPicPr>
          <p:cNvPr id="5" name="Image 0" descr="/home/claude/docs/dash-patient.jpg">    </p:cNvPr>
          <p:cNvPicPr>
            <a:picLocks noChangeAspect="1"/>
          </p:cNvPicPr>
          <p:nvPr/>
        </p:nvPicPr>
        <p:blipFill>
          <a:blip r:embed="rId1"/>
          <a:srcRect l="0" r="0" t="0" b="0"/>
          <a:stretch/>
        </p:blipFill>
        <p:spPr>
          <a:xfrm>
            <a:off x="502920" y="1737360"/>
            <a:ext cx="7132320" cy="4389120"/>
          </a:xfrm>
          <a:prstGeom prst="rect">
            <a:avLst/>
          </a:prstGeom>
        </p:spPr>
      </p:pic>
      <p:sp>
        <p:nvSpPr>
          <p:cNvPr id="6" name="Text 3"/>
          <p:cNvSpPr/>
          <p:nvPr/>
        </p:nvSpPr>
        <p:spPr>
          <a:xfrm>
            <a:off x="8092440" y="1691640"/>
            <a:ext cx="3840480" cy="32004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KEY OBSERVATIONS</a:t>
            </a:r>
            <a:endParaRPr lang="en-US" sz="1000" dirty="0"/>
          </a:p>
        </p:txBody>
      </p:sp>
      <p:sp>
        <p:nvSpPr>
          <p:cNvPr id="7" name="Shape 4"/>
          <p:cNvSpPr/>
          <p:nvPr/>
        </p:nvSpPr>
        <p:spPr>
          <a:xfrm>
            <a:off x="8092440" y="2103120"/>
            <a:ext cx="320040" cy="320040"/>
          </a:xfrm>
          <a:prstGeom prst="ellipse">
            <a:avLst/>
          </a:prstGeom>
          <a:solidFill>
            <a:srgbClr val="D9603F"/>
          </a:solidFill>
          <a:ln w="12700">
            <a:solidFill>
              <a:srgbClr val="D9603F"/>
            </a:solidFill>
            <a:prstDash val="solid"/>
          </a:ln>
        </p:spPr>
      </p:sp>
      <p:sp>
        <p:nvSpPr>
          <p:cNvPr id="8" name="Text 5"/>
          <p:cNvSpPr/>
          <p:nvPr/>
        </p:nvSpPr>
        <p:spPr>
          <a:xfrm>
            <a:off x="8092440" y="210312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8549640" y="205740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All 5,000 patients accounted for across cities</a:t>
            </a:r>
            <a:endParaRPr lang="en-US" sz="1150" dirty="0"/>
          </a:p>
        </p:txBody>
      </p:sp>
      <p:sp>
        <p:nvSpPr>
          <p:cNvPr id="10" name="Shape 7"/>
          <p:cNvSpPr/>
          <p:nvPr/>
        </p:nvSpPr>
        <p:spPr>
          <a:xfrm>
            <a:off x="8092440" y="3063240"/>
            <a:ext cx="320040" cy="320040"/>
          </a:xfrm>
          <a:prstGeom prst="ellipse">
            <a:avLst/>
          </a:prstGeom>
          <a:solidFill>
            <a:srgbClr val="D9603F"/>
          </a:solidFill>
          <a:ln w="12700">
            <a:solidFill>
              <a:srgbClr val="D9603F"/>
            </a:solidFill>
            <a:prstDash val="solid"/>
          </a:ln>
        </p:spPr>
      </p:sp>
      <p:sp>
        <p:nvSpPr>
          <p:cNvPr id="11" name="Text 8"/>
          <p:cNvSpPr/>
          <p:nvPr/>
        </p:nvSpPr>
        <p:spPr>
          <a:xfrm>
            <a:off x="8092440" y="306324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8549640" y="301752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Age 36-50 is the largest cohort by city share</a:t>
            </a:r>
            <a:endParaRPr lang="en-US" sz="1150" dirty="0"/>
          </a:p>
        </p:txBody>
      </p:sp>
      <p:sp>
        <p:nvSpPr>
          <p:cNvPr id="13" name="Shape 10"/>
          <p:cNvSpPr/>
          <p:nvPr/>
        </p:nvSpPr>
        <p:spPr>
          <a:xfrm>
            <a:off x="8092440" y="4023360"/>
            <a:ext cx="320040" cy="320040"/>
          </a:xfrm>
          <a:prstGeom prst="ellipse">
            <a:avLst/>
          </a:prstGeom>
          <a:solidFill>
            <a:srgbClr val="D9603F"/>
          </a:solidFill>
          <a:ln w="12700">
            <a:solidFill>
              <a:srgbClr val="D9603F"/>
            </a:solidFill>
            <a:prstDash val="solid"/>
          </a:ln>
        </p:spPr>
      </p:sp>
      <p:sp>
        <p:nvSpPr>
          <p:cNvPr id="14" name="Text 11"/>
          <p:cNvSpPr/>
          <p:nvPr/>
        </p:nvSpPr>
        <p:spPr>
          <a:xfrm>
            <a:off x="8092440" y="402336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p:nvPr/>
        </p:nvSpPr>
        <p:spPr>
          <a:xfrm>
            <a:off x="8549640" y="397764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Gender distribution within cities is near 50/50 (M 200.7% vs F 199.3% summed)</a:t>
            </a:r>
            <a:endParaRPr lang="en-US" sz="1150" dirty="0"/>
          </a:p>
        </p:txBody>
      </p:sp>
      <p:sp>
        <p:nvSpPr>
          <p:cNvPr id="16" name="Shape 13"/>
          <p:cNvSpPr/>
          <p:nvPr/>
        </p:nvSpPr>
        <p:spPr>
          <a:xfrm>
            <a:off x="8092440" y="4983480"/>
            <a:ext cx="320040" cy="320040"/>
          </a:xfrm>
          <a:prstGeom prst="ellipse">
            <a:avLst/>
          </a:prstGeom>
          <a:solidFill>
            <a:srgbClr val="D9603F"/>
          </a:solidFill>
          <a:ln w="12700">
            <a:solidFill>
              <a:srgbClr val="D9603F"/>
            </a:solidFill>
            <a:prstDash val="solid"/>
          </a:ln>
        </p:spPr>
      </p:sp>
      <p:sp>
        <p:nvSpPr>
          <p:cNvPr id="17" name="Text 14"/>
          <p:cNvSpPr/>
          <p:nvPr/>
        </p:nvSpPr>
        <p:spPr>
          <a:xfrm>
            <a:off x="8092440" y="498348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p:nvPr/>
        </p:nvSpPr>
        <p:spPr>
          <a:xfrm>
            <a:off x="8549640" y="4937760"/>
            <a:ext cx="3520440" cy="868680"/>
          </a:xfrm>
          <a:prstGeom prst="rect">
            <a:avLst/>
          </a:prstGeom>
          <a:noFill/>
          <a:ln/>
        </p:spPr>
        <p:txBody>
          <a:bodyPr wrap="square" lIns="0" tIns="0" rIns="0" bIns="0" rtlCol="0" anchor="t"/>
          <a:lstStyle/>
          <a:p>
            <a:pPr indent="0" marL="0">
              <a:buNone/>
            </a:pPr>
            <a:r>
              <a:rPr lang="en-US" sz="1150" dirty="0">
                <a:solidFill>
                  <a:srgbClr val="4A5460"/>
                </a:solidFill>
                <a:latin typeface="Calibri" pitchFamily="34" charset="0"/>
                <a:ea typeface="Calibri" pitchFamily="34" charset="-122"/>
                <a:cs typeface="Calibri" pitchFamily="34" charset="-120"/>
              </a:rPr>
              <a:t>Insurance providers split evenly — Tricare and Kaiser slightly ahead</a:t>
            </a:r>
            <a:endParaRPr lang="en-US" sz="1150" dirty="0"/>
          </a:p>
        </p:txBody>
      </p:sp>
      <p:sp>
        <p:nvSpPr>
          <p:cNvPr id="19" name="Text 16"/>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8A8275"/>
                </a:solidFill>
                <a:latin typeface="Calibri" pitchFamily="34" charset="0"/>
                <a:ea typeface="Calibri" pitchFamily="34" charset="-122"/>
                <a:cs typeface="Calibri" pitchFamily="34" charset="-120"/>
              </a:rPr>
              <a:t>10 / 14</a:t>
            </a:r>
            <a:endParaRPr lang="en-US" sz="900" dirty="0"/>
          </a:p>
        </p:txBody>
      </p:sp>
      <p:sp>
        <p:nvSpPr>
          <p:cNvPr id="20" name="Text 17"/>
          <p:cNvSpPr/>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8A8275"/>
                </a:solidFill>
                <a:latin typeface="Calibri" pitchFamily="34" charset="0"/>
                <a:ea typeface="Calibri" pitchFamily="34" charset="-122"/>
                <a:cs typeface="Calibri" pitchFamily="34" charset="-120"/>
              </a:rPr>
              <a:t>Vitalis Healthcare Project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05 · KEY INSIGHTS</a:t>
            </a:r>
            <a:endParaRPr lang="en-US" sz="1000" dirty="0"/>
          </a:p>
        </p:txBody>
      </p:sp>
      <p:sp>
        <p:nvSpPr>
          <p:cNvPr id="3" name="Text 1"/>
          <p:cNvSpPr/>
          <p:nvPr/>
        </p:nvSpPr>
        <p:spPr>
          <a:xfrm>
            <a:off x="457200" y="822960"/>
            <a:ext cx="10972800" cy="731520"/>
          </a:xfrm>
          <a:prstGeom prst="rect">
            <a:avLst/>
          </a:prstGeom>
          <a:noFill/>
          <a:ln/>
        </p:spPr>
        <p:txBody>
          <a:bodyPr wrap="square" lIns="0" tIns="0" rIns="0" bIns="0" rtlCol="0" anchor="ctr"/>
          <a:lstStyle/>
          <a:p>
            <a:pPr indent="0" marL="0">
              <a:buNone/>
            </a:pPr>
            <a:r>
              <a:rPr lang="en-US" sz="3600" b="1" dirty="0">
                <a:solidFill>
                  <a:srgbClr val="1A2530"/>
                </a:solidFill>
                <a:latin typeface="Georgia" pitchFamily="34" charset="0"/>
                <a:ea typeface="Georgia" pitchFamily="34" charset="-122"/>
                <a:cs typeface="Georgia" pitchFamily="34" charset="-120"/>
              </a:rPr>
              <a:t>What the data tells us</a:t>
            </a:r>
            <a:endParaRPr lang="en-US" sz="3600" dirty="0"/>
          </a:p>
        </p:txBody>
      </p:sp>
      <p:sp>
        <p:nvSpPr>
          <p:cNvPr id="4" name="Shape 2"/>
          <p:cNvSpPr/>
          <p:nvPr/>
        </p:nvSpPr>
        <p:spPr>
          <a:xfrm>
            <a:off x="457200" y="1783080"/>
            <a:ext cx="3657600" cy="2011680"/>
          </a:xfrm>
          <a:prstGeom prst="roundRect">
            <a:avLst>
              <a:gd name="adj" fmla="val 5455"/>
            </a:avLst>
          </a:prstGeom>
          <a:solidFill>
            <a:srgbClr val="FBF9F4"/>
          </a:solidFill>
          <a:ln w="12700">
            <a:solidFill>
              <a:srgbClr val="D9D2BF"/>
            </a:solidFill>
            <a:prstDash val="solid"/>
          </a:ln>
        </p:spPr>
      </p:sp>
      <p:sp>
        <p:nvSpPr>
          <p:cNvPr id="5" name="Shape 3"/>
          <p:cNvSpPr/>
          <p:nvPr/>
        </p:nvSpPr>
        <p:spPr>
          <a:xfrm>
            <a:off x="731520" y="2011680"/>
            <a:ext cx="457200" cy="54864"/>
          </a:xfrm>
          <a:prstGeom prst="rect">
            <a:avLst/>
          </a:prstGeom>
          <a:solidFill>
            <a:srgbClr val="3D6655"/>
          </a:solidFill>
          <a:ln w="12700">
            <a:solidFill>
              <a:srgbClr val="3D6655"/>
            </a:solidFill>
            <a:prstDash val="solid"/>
          </a:ln>
        </p:spPr>
      </p:sp>
      <p:sp>
        <p:nvSpPr>
          <p:cNvPr id="6" name="Text 4"/>
          <p:cNvSpPr/>
          <p:nvPr/>
        </p:nvSpPr>
        <p:spPr>
          <a:xfrm>
            <a:off x="731520" y="2148840"/>
            <a:ext cx="3108960" cy="1005840"/>
          </a:xfrm>
          <a:prstGeom prst="rect">
            <a:avLst/>
          </a:prstGeom>
          <a:noFill/>
          <a:ln/>
        </p:spPr>
        <p:txBody>
          <a:bodyPr wrap="square" lIns="0" tIns="0" rIns="0" bIns="0" rtlCol="0" anchor="t"/>
          <a:lstStyle/>
          <a:p>
            <a:pPr indent="0" marL="0">
              <a:buNone/>
            </a:pPr>
            <a:r>
              <a:rPr lang="en-US" sz="4400" b="1" dirty="0">
                <a:solidFill>
                  <a:srgbClr val="3D6655"/>
                </a:solidFill>
                <a:latin typeface="Georgia" pitchFamily="34" charset="0"/>
                <a:ea typeface="Georgia" pitchFamily="34" charset="-122"/>
                <a:cs typeface="Georgia" pitchFamily="34" charset="-120"/>
              </a:rPr>
              <a:t>$1.43M</a:t>
            </a:r>
            <a:endParaRPr lang="en-US" sz="4400" dirty="0"/>
          </a:p>
        </p:txBody>
      </p:sp>
      <p:sp>
        <p:nvSpPr>
          <p:cNvPr id="7" name="Text 5"/>
          <p:cNvSpPr/>
          <p:nvPr/>
        </p:nvSpPr>
        <p:spPr>
          <a:xfrm>
            <a:off x="731520" y="3063240"/>
            <a:ext cx="3108960" cy="32004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Seattle leads</a:t>
            </a:r>
            <a:endParaRPr lang="en-US" sz="1300" dirty="0"/>
          </a:p>
        </p:txBody>
      </p:sp>
      <p:sp>
        <p:nvSpPr>
          <p:cNvPr id="8" name="Text 6"/>
          <p:cNvSpPr/>
          <p:nvPr/>
        </p:nvSpPr>
        <p:spPr>
          <a:xfrm>
            <a:off x="731520" y="3337560"/>
            <a:ext cx="3108960" cy="320040"/>
          </a:xfrm>
          <a:prstGeom prst="rect">
            <a:avLst/>
          </a:prstGeom>
          <a:noFill/>
          <a:ln/>
        </p:spPr>
        <p:txBody>
          <a:bodyPr wrap="square" lIns="0" tIns="0" rIns="0" bIns="0" rtlCol="0" anchor="ctr"/>
          <a:lstStyle/>
          <a:p>
            <a:pPr indent="0" marL="0">
              <a:buNone/>
            </a:pPr>
            <a:r>
              <a:rPr lang="en-US" sz="1050" i="1" dirty="0">
                <a:solidFill>
                  <a:srgbClr val="4A5460"/>
                </a:solidFill>
                <a:latin typeface="Calibri" pitchFamily="34" charset="0"/>
                <a:ea typeface="Calibri" pitchFamily="34" charset="-122"/>
                <a:cs typeface="Calibri" pitchFamily="34" charset="-120"/>
              </a:rPr>
              <a:t>top-grossing clinic location</a:t>
            </a:r>
            <a:endParaRPr lang="en-US" sz="1050" dirty="0"/>
          </a:p>
        </p:txBody>
      </p:sp>
      <p:sp>
        <p:nvSpPr>
          <p:cNvPr id="9" name="Shape 7"/>
          <p:cNvSpPr/>
          <p:nvPr/>
        </p:nvSpPr>
        <p:spPr>
          <a:xfrm>
            <a:off x="4343400" y="1783080"/>
            <a:ext cx="3657600" cy="2011680"/>
          </a:xfrm>
          <a:prstGeom prst="roundRect">
            <a:avLst>
              <a:gd name="adj" fmla="val 5455"/>
            </a:avLst>
          </a:prstGeom>
          <a:solidFill>
            <a:srgbClr val="FBF9F4"/>
          </a:solidFill>
          <a:ln w="12700">
            <a:solidFill>
              <a:srgbClr val="D9D2BF"/>
            </a:solidFill>
            <a:prstDash val="solid"/>
          </a:ln>
        </p:spPr>
      </p:sp>
      <p:sp>
        <p:nvSpPr>
          <p:cNvPr id="10" name="Shape 8"/>
          <p:cNvSpPr/>
          <p:nvPr/>
        </p:nvSpPr>
        <p:spPr>
          <a:xfrm>
            <a:off x="4617720" y="2011680"/>
            <a:ext cx="457200" cy="54864"/>
          </a:xfrm>
          <a:prstGeom prst="rect">
            <a:avLst/>
          </a:prstGeom>
          <a:solidFill>
            <a:srgbClr val="B8463A"/>
          </a:solidFill>
          <a:ln w="12700">
            <a:solidFill>
              <a:srgbClr val="B8463A"/>
            </a:solidFill>
            <a:prstDash val="solid"/>
          </a:ln>
        </p:spPr>
      </p:sp>
      <p:sp>
        <p:nvSpPr>
          <p:cNvPr id="11" name="Text 9"/>
          <p:cNvSpPr/>
          <p:nvPr/>
        </p:nvSpPr>
        <p:spPr>
          <a:xfrm>
            <a:off x="4617720" y="2148840"/>
            <a:ext cx="3108960" cy="1005840"/>
          </a:xfrm>
          <a:prstGeom prst="rect">
            <a:avLst/>
          </a:prstGeom>
          <a:noFill/>
          <a:ln/>
        </p:spPr>
        <p:txBody>
          <a:bodyPr wrap="square" lIns="0" tIns="0" rIns="0" bIns="0" rtlCol="0" anchor="t"/>
          <a:lstStyle/>
          <a:p>
            <a:pPr indent="0" marL="0">
              <a:buNone/>
            </a:pPr>
            <a:r>
              <a:rPr lang="en-US" sz="4400" b="1" dirty="0">
                <a:solidFill>
                  <a:srgbClr val="B8463A"/>
                </a:solidFill>
                <a:latin typeface="Georgia" pitchFamily="34" charset="0"/>
                <a:ea typeface="Georgia" pitchFamily="34" charset="-122"/>
                <a:cs typeface="Georgia" pitchFamily="34" charset="-120"/>
              </a:rPr>
              <a:t>33%</a:t>
            </a:r>
            <a:endParaRPr lang="en-US" sz="4400" dirty="0"/>
          </a:p>
        </p:txBody>
      </p:sp>
      <p:sp>
        <p:nvSpPr>
          <p:cNvPr id="12" name="Text 10"/>
          <p:cNvSpPr/>
          <p:nvPr/>
        </p:nvSpPr>
        <p:spPr>
          <a:xfrm>
            <a:off x="4617720" y="3063240"/>
            <a:ext cx="3108960" cy="32004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No-show rate</a:t>
            </a:r>
            <a:endParaRPr lang="en-US" sz="1300" dirty="0"/>
          </a:p>
        </p:txBody>
      </p:sp>
      <p:sp>
        <p:nvSpPr>
          <p:cNvPr id="13" name="Text 11"/>
          <p:cNvSpPr/>
          <p:nvPr/>
        </p:nvSpPr>
        <p:spPr>
          <a:xfrm>
            <a:off x="4617720" y="3337560"/>
            <a:ext cx="3108960" cy="320040"/>
          </a:xfrm>
          <a:prstGeom prst="rect">
            <a:avLst/>
          </a:prstGeom>
          <a:noFill/>
          <a:ln/>
        </p:spPr>
        <p:txBody>
          <a:bodyPr wrap="square" lIns="0" tIns="0" rIns="0" bIns="0" rtlCol="0" anchor="ctr"/>
          <a:lstStyle/>
          <a:p>
            <a:pPr indent="0" marL="0">
              <a:buNone/>
            </a:pPr>
            <a:r>
              <a:rPr lang="en-US" sz="1050" i="1" dirty="0">
                <a:solidFill>
                  <a:srgbClr val="4A5460"/>
                </a:solidFill>
                <a:latin typeface="Calibri" pitchFamily="34" charset="0"/>
                <a:ea typeface="Calibri" pitchFamily="34" charset="-122"/>
                <a:cs typeface="Calibri" pitchFamily="34" charset="-120"/>
              </a:rPr>
              <a:t>~6.6K missed appointments — costly</a:t>
            </a:r>
            <a:endParaRPr lang="en-US" sz="1050" dirty="0"/>
          </a:p>
        </p:txBody>
      </p:sp>
      <p:sp>
        <p:nvSpPr>
          <p:cNvPr id="14" name="Shape 12"/>
          <p:cNvSpPr/>
          <p:nvPr/>
        </p:nvSpPr>
        <p:spPr>
          <a:xfrm>
            <a:off x="8229600" y="1783080"/>
            <a:ext cx="3657600" cy="2011680"/>
          </a:xfrm>
          <a:prstGeom prst="roundRect">
            <a:avLst>
              <a:gd name="adj" fmla="val 5455"/>
            </a:avLst>
          </a:prstGeom>
          <a:solidFill>
            <a:srgbClr val="FBF9F4"/>
          </a:solidFill>
          <a:ln w="12700">
            <a:solidFill>
              <a:srgbClr val="D9D2BF"/>
            </a:solidFill>
            <a:prstDash val="solid"/>
          </a:ln>
        </p:spPr>
      </p:sp>
      <p:sp>
        <p:nvSpPr>
          <p:cNvPr id="15" name="Shape 13"/>
          <p:cNvSpPr/>
          <p:nvPr/>
        </p:nvSpPr>
        <p:spPr>
          <a:xfrm>
            <a:off x="8503920" y="2011680"/>
            <a:ext cx="457200" cy="54864"/>
          </a:xfrm>
          <a:prstGeom prst="rect">
            <a:avLst/>
          </a:prstGeom>
          <a:solidFill>
            <a:srgbClr val="D9603F"/>
          </a:solidFill>
          <a:ln w="12700">
            <a:solidFill>
              <a:srgbClr val="D9603F"/>
            </a:solidFill>
            <a:prstDash val="solid"/>
          </a:ln>
        </p:spPr>
      </p:sp>
      <p:sp>
        <p:nvSpPr>
          <p:cNvPr id="16" name="Text 14"/>
          <p:cNvSpPr/>
          <p:nvPr/>
        </p:nvSpPr>
        <p:spPr>
          <a:xfrm>
            <a:off x="8503920" y="2148840"/>
            <a:ext cx="3108960" cy="1005840"/>
          </a:xfrm>
          <a:prstGeom prst="rect">
            <a:avLst/>
          </a:prstGeom>
          <a:noFill/>
          <a:ln/>
        </p:spPr>
        <p:txBody>
          <a:bodyPr wrap="square" lIns="0" tIns="0" rIns="0" bIns="0" rtlCol="0" anchor="t"/>
          <a:lstStyle/>
          <a:p>
            <a:pPr indent="0" marL="0">
              <a:buNone/>
            </a:pPr>
            <a:r>
              <a:rPr lang="en-US" sz="4400" b="1" dirty="0">
                <a:solidFill>
                  <a:srgbClr val="D9603F"/>
                </a:solidFill>
                <a:latin typeface="Georgia" pitchFamily="34" charset="0"/>
                <a:ea typeface="Georgia" pitchFamily="34" charset="-122"/>
                <a:cs typeface="Georgia" pitchFamily="34" charset="-120"/>
              </a:rPr>
              <a:t>$1.19M</a:t>
            </a:r>
            <a:endParaRPr lang="en-US" sz="4400" dirty="0"/>
          </a:p>
        </p:txBody>
      </p:sp>
      <p:sp>
        <p:nvSpPr>
          <p:cNvPr id="17" name="Text 15"/>
          <p:cNvSpPr/>
          <p:nvPr/>
        </p:nvSpPr>
        <p:spPr>
          <a:xfrm>
            <a:off x="8503920" y="3063240"/>
            <a:ext cx="3108960" cy="32004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Orthopedics tops</a:t>
            </a:r>
            <a:endParaRPr lang="en-US" sz="1300" dirty="0"/>
          </a:p>
        </p:txBody>
      </p:sp>
      <p:sp>
        <p:nvSpPr>
          <p:cNvPr id="18" name="Text 16"/>
          <p:cNvSpPr/>
          <p:nvPr/>
        </p:nvSpPr>
        <p:spPr>
          <a:xfrm>
            <a:off x="8503920" y="3337560"/>
            <a:ext cx="3108960" cy="320040"/>
          </a:xfrm>
          <a:prstGeom prst="rect">
            <a:avLst/>
          </a:prstGeom>
          <a:noFill/>
          <a:ln/>
        </p:spPr>
        <p:txBody>
          <a:bodyPr wrap="square" lIns="0" tIns="0" rIns="0" bIns="0" rtlCol="0" anchor="ctr"/>
          <a:lstStyle/>
          <a:p>
            <a:pPr indent="0" marL="0">
              <a:buNone/>
            </a:pPr>
            <a:r>
              <a:rPr lang="en-US" sz="1050" i="1" dirty="0">
                <a:solidFill>
                  <a:srgbClr val="4A5460"/>
                </a:solidFill>
                <a:latin typeface="Calibri" pitchFamily="34" charset="0"/>
                <a:ea typeface="Calibri" pitchFamily="34" charset="-122"/>
                <a:cs typeface="Calibri" pitchFamily="34" charset="-120"/>
              </a:rPr>
              <a:t>highest-revenue specialty</a:t>
            </a:r>
            <a:endParaRPr lang="en-US" sz="1050" dirty="0"/>
          </a:p>
        </p:txBody>
      </p:sp>
      <p:sp>
        <p:nvSpPr>
          <p:cNvPr id="19" name="Shape 17"/>
          <p:cNvSpPr/>
          <p:nvPr/>
        </p:nvSpPr>
        <p:spPr>
          <a:xfrm>
            <a:off x="457200" y="4023360"/>
            <a:ext cx="3657600" cy="2011680"/>
          </a:xfrm>
          <a:prstGeom prst="roundRect">
            <a:avLst>
              <a:gd name="adj" fmla="val 5455"/>
            </a:avLst>
          </a:prstGeom>
          <a:solidFill>
            <a:srgbClr val="FBF9F4"/>
          </a:solidFill>
          <a:ln w="12700">
            <a:solidFill>
              <a:srgbClr val="D9D2BF"/>
            </a:solidFill>
            <a:prstDash val="solid"/>
          </a:ln>
        </p:spPr>
      </p:sp>
      <p:sp>
        <p:nvSpPr>
          <p:cNvPr id="20" name="Shape 18"/>
          <p:cNvSpPr/>
          <p:nvPr/>
        </p:nvSpPr>
        <p:spPr>
          <a:xfrm>
            <a:off x="731520" y="4251960"/>
            <a:ext cx="457200" cy="54864"/>
          </a:xfrm>
          <a:prstGeom prst="rect">
            <a:avLst/>
          </a:prstGeom>
          <a:solidFill>
            <a:srgbClr val="5F7FAA"/>
          </a:solidFill>
          <a:ln w="12700">
            <a:solidFill>
              <a:srgbClr val="5F7FAA"/>
            </a:solidFill>
            <a:prstDash val="solid"/>
          </a:ln>
        </p:spPr>
      </p:sp>
      <p:sp>
        <p:nvSpPr>
          <p:cNvPr id="21" name="Text 19"/>
          <p:cNvSpPr/>
          <p:nvPr/>
        </p:nvSpPr>
        <p:spPr>
          <a:xfrm>
            <a:off x="731520" y="4389120"/>
            <a:ext cx="3108960" cy="1005840"/>
          </a:xfrm>
          <a:prstGeom prst="rect">
            <a:avLst/>
          </a:prstGeom>
          <a:noFill/>
          <a:ln/>
        </p:spPr>
        <p:txBody>
          <a:bodyPr wrap="square" lIns="0" tIns="0" rIns="0" bIns="0" rtlCol="0" anchor="t"/>
          <a:lstStyle/>
          <a:p>
            <a:pPr indent="0" marL="0">
              <a:buNone/>
            </a:pPr>
            <a:r>
              <a:rPr lang="en-US" sz="4400" b="1" dirty="0">
                <a:solidFill>
                  <a:srgbClr val="5F7FAA"/>
                </a:solidFill>
                <a:latin typeface="Georgia" pitchFamily="34" charset="0"/>
                <a:ea typeface="Georgia" pitchFamily="34" charset="-122"/>
                <a:cs typeface="Georgia" pitchFamily="34" charset="-120"/>
              </a:rPr>
              <a:t>4,921</a:t>
            </a:r>
            <a:endParaRPr lang="en-US" sz="4400" dirty="0"/>
          </a:p>
        </p:txBody>
      </p:sp>
      <p:sp>
        <p:nvSpPr>
          <p:cNvPr id="22" name="Text 20"/>
          <p:cNvSpPr/>
          <p:nvPr/>
        </p:nvSpPr>
        <p:spPr>
          <a:xfrm>
            <a:off x="731520" y="5303520"/>
            <a:ext cx="3108960" cy="32004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Hypertension patients</a:t>
            </a:r>
            <a:endParaRPr lang="en-US" sz="1300" dirty="0"/>
          </a:p>
        </p:txBody>
      </p:sp>
      <p:sp>
        <p:nvSpPr>
          <p:cNvPr id="23" name="Text 21"/>
          <p:cNvSpPr/>
          <p:nvPr/>
        </p:nvSpPr>
        <p:spPr>
          <a:xfrm>
            <a:off x="731520" y="5577840"/>
            <a:ext cx="3108960" cy="320040"/>
          </a:xfrm>
          <a:prstGeom prst="rect">
            <a:avLst/>
          </a:prstGeom>
          <a:noFill/>
          <a:ln/>
        </p:spPr>
        <p:txBody>
          <a:bodyPr wrap="square" lIns="0" tIns="0" rIns="0" bIns="0" rtlCol="0" anchor="ctr"/>
          <a:lstStyle/>
          <a:p>
            <a:pPr indent="0" marL="0">
              <a:buNone/>
            </a:pPr>
            <a:r>
              <a:rPr lang="en-US" sz="1050" i="1" dirty="0">
                <a:solidFill>
                  <a:srgbClr val="4A5460"/>
                </a:solidFill>
                <a:latin typeface="Calibri" pitchFamily="34" charset="0"/>
                <a:ea typeface="Calibri" pitchFamily="34" charset="-122"/>
                <a:cs typeface="Calibri" pitchFamily="34" charset="-120"/>
              </a:rPr>
              <a:t>98% of the active patient base</a:t>
            </a:r>
            <a:endParaRPr lang="en-US" sz="1050" dirty="0"/>
          </a:p>
        </p:txBody>
      </p:sp>
      <p:sp>
        <p:nvSpPr>
          <p:cNvPr id="24" name="Shape 22"/>
          <p:cNvSpPr/>
          <p:nvPr/>
        </p:nvSpPr>
        <p:spPr>
          <a:xfrm>
            <a:off x="4343400" y="4023360"/>
            <a:ext cx="3657600" cy="2011680"/>
          </a:xfrm>
          <a:prstGeom prst="roundRect">
            <a:avLst>
              <a:gd name="adj" fmla="val 5455"/>
            </a:avLst>
          </a:prstGeom>
          <a:solidFill>
            <a:srgbClr val="FBF9F4"/>
          </a:solidFill>
          <a:ln w="12700">
            <a:solidFill>
              <a:srgbClr val="D9D2BF"/>
            </a:solidFill>
            <a:prstDash val="solid"/>
          </a:ln>
        </p:spPr>
      </p:sp>
      <p:sp>
        <p:nvSpPr>
          <p:cNvPr id="25" name="Shape 23"/>
          <p:cNvSpPr/>
          <p:nvPr/>
        </p:nvSpPr>
        <p:spPr>
          <a:xfrm>
            <a:off x="4617720" y="4251960"/>
            <a:ext cx="457200" cy="54864"/>
          </a:xfrm>
          <a:prstGeom prst="rect">
            <a:avLst/>
          </a:prstGeom>
          <a:solidFill>
            <a:srgbClr val="C2A046"/>
          </a:solidFill>
          <a:ln w="12700">
            <a:solidFill>
              <a:srgbClr val="C2A046"/>
            </a:solidFill>
            <a:prstDash val="solid"/>
          </a:ln>
        </p:spPr>
      </p:sp>
      <p:sp>
        <p:nvSpPr>
          <p:cNvPr id="26" name="Text 24"/>
          <p:cNvSpPr/>
          <p:nvPr/>
        </p:nvSpPr>
        <p:spPr>
          <a:xfrm>
            <a:off x="4617720" y="4389120"/>
            <a:ext cx="3108960" cy="1005840"/>
          </a:xfrm>
          <a:prstGeom prst="rect">
            <a:avLst/>
          </a:prstGeom>
          <a:noFill/>
          <a:ln/>
        </p:spPr>
        <p:txBody>
          <a:bodyPr wrap="square" lIns="0" tIns="0" rIns="0" bIns="0" rtlCol="0" anchor="t"/>
          <a:lstStyle/>
          <a:p>
            <a:pPr indent="0" marL="0">
              <a:buNone/>
            </a:pPr>
            <a:r>
              <a:rPr lang="en-US" sz="4400" b="1" dirty="0">
                <a:solidFill>
                  <a:srgbClr val="C2A046"/>
                </a:solidFill>
                <a:latin typeface="Georgia" pitchFamily="34" charset="0"/>
                <a:ea typeface="Georgia" pitchFamily="34" charset="-122"/>
                <a:cs typeface="Georgia" pitchFamily="34" charset="-120"/>
              </a:rPr>
              <a:t>$1.80M</a:t>
            </a:r>
            <a:endParaRPr lang="en-US" sz="4400" dirty="0"/>
          </a:p>
        </p:txBody>
      </p:sp>
      <p:sp>
        <p:nvSpPr>
          <p:cNvPr id="27" name="Text 25"/>
          <p:cNvSpPr/>
          <p:nvPr/>
        </p:nvSpPr>
        <p:spPr>
          <a:xfrm>
            <a:off x="4617720" y="5303520"/>
            <a:ext cx="3108960" cy="32004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Age 65+ revenue</a:t>
            </a:r>
            <a:endParaRPr lang="en-US" sz="1300" dirty="0"/>
          </a:p>
        </p:txBody>
      </p:sp>
      <p:sp>
        <p:nvSpPr>
          <p:cNvPr id="28" name="Text 26"/>
          <p:cNvSpPr/>
          <p:nvPr/>
        </p:nvSpPr>
        <p:spPr>
          <a:xfrm>
            <a:off x="4617720" y="5577840"/>
            <a:ext cx="3108960" cy="320040"/>
          </a:xfrm>
          <a:prstGeom prst="rect">
            <a:avLst/>
          </a:prstGeom>
          <a:noFill/>
          <a:ln/>
        </p:spPr>
        <p:txBody>
          <a:bodyPr wrap="square" lIns="0" tIns="0" rIns="0" bIns="0" rtlCol="0" anchor="ctr"/>
          <a:lstStyle/>
          <a:p>
            <a:pPr indent="0" marL="0">
              <a:buNone/>
            </a:pPr>
            <a:r>
              <a:rPr lang="en-US" sz="1050" i="1" dirty="0">
                <a:solidFill>
                  <a:srgbClr val="4A5460"/>
                </a:solidFill>
                <a:latin typeface="Calibri" pitchFamily="34" charset="0"/>
                <a:ea typeface="Calibri" pitchFamily="34" charset="-122"/>
                <a:cs typeface="Calibri" pitchFamily="34" charset="-120"/>
              </a:rPr>
              <a:t>highest-spending age cohort</a:t>
            </a:r>
            <a:endParaRPr lang="en-US" sz="1050" dirty="0"/>
          </a:p>
        </p:txBody>
      </p:sp>
      <p:sp>
        <p:nvSpPr>
          <p:cNvPr id="29" name="Shape 27"/>
          <p:cNvSpPr/>
          <p:nvPr/>
        </p:nvSpPr>
        <p:spPr>
          <a:xfrm>
            <a:off x="8229600" y="4023360"/>
            <a:ext cx="3657600" cy="2011680"/>
          </a:xfrm>
          <a:prstGeom prst="roundRect">
            <a:avLst>
              <a:gd name="adj" fmla="val 5455"/>
            </a:avLst>
          </a:prstGeom>
          <a:solidFill>
            <a:srgbClr val="FBF9F4"/>
          </a:solidFill>
          <a:ln w="12700">
            <a:solidFill>
              <a:srgbClr val="D9D2BF"/>
            </a:solidFill>
            <a:prstDash val="solid"/>
          </a:ln>
        </p:spPr>
      </p:sp>
      <p:sp>
        <p:nvSpPr>
          <p:cNvPr id="30" name="Shape 28"/>
          <p:cNvSpPr/>
          <p:nvPr/>
        </p:nvSpPr>
        <p:spPr>
          <a:xfrm>
            <a:off x="8503920" y="4251960"/>
            <a:ext cx="457200" cy="54864"/>
          </a:xfrm>
          <a:prstGeom prst="rect">
            <a:avLst/>
          </a:prstGeom>
          <a:solidFill>
            <a:srgbClr val="7FA38D"/>
          </a:solidFill>
          <a:ln w="12700">
            <a:solidFill>
              <a:srgbClr val="7FA38D"/>
            </a:solidFill>
            <a:prstDash val="solid"/>
          </a:ln>
        </p:spPr>
      </p:sp>
      <p:sp>
        <p:nvSpPr>
          <p:cNvPr id="31" name="Text 29"/>
          <p:cNvSpPr/>
          <p:nvPr/>
        </p:nvSpPr>
        <p:spPr>
          <a:xfrm>
            <a:off x="8503920" y="4389120"/>
            <a:ext cx="3108960" cy="1005840"/>
          </a:xfrm>
          <a:prstGeom prst="rect">
            <a:avLst/>
          </a:prstGeom>
          <a:noFill/>
          <a:ln/>
        </p:spPr>
        <p:txBody>
          <a:bodyPr wrap="square" lIns="0" tIns="0" rIns="0" bIns="0" rtlCol="0" anchor="t"/>
          <a:lstStyle/>
          <a:p>
            <a:pPr indent="0" marL="0">
              <a:buNone/>
            </a:pPr>
            <a:r>
              <a:rPr lang="en-US" sz="4400" b="1" dirty="0">
                <a:solidFill>
                  <a:srgbClr val="7FA38D"/>
                </a:solidFill>
                <a:latin typeface="Georgia" pitchFamily="34" charset="0"/>
                <a:ea typeface="Georgia" pitchFamily="34" charset="-122"/>
                <a:cs typeface="Georgia" pitchFamily="34" charset="-120"/>
              </a:rPr>
              <a:t>3,533</a:t>
            </a:r>
            <a:endParaRPr lang="en-US" sz="4400" dirty="0"/>
          </a:p>
        </p:txBody>
      </p:sp>
      <p:sp>
        <p:nvSpPr>
          <p:cNvPr id="32" name="Text 30"/>
          <p:cNvSpPr/>
          <p:nvPr/>
        </p:nvSpPr>
        <p:spPr>
          <a:xfrm>
            <a:off x="8503920" y="5303520"/>
            <a:ext cx="3108960" cy="32004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Multi-diagnosis pts.</a:t>
            </a:r>
            <a:endParaRPr lang="en-US" sz="1300" dirty="0"/>
          </a:p>
        </p:txBody>
      </p:sp>
      <p:sp>
        <p:nvSpPr>
          <p:cNvPr id="33" name="Text 31"/>
          <p:cNvSpPr/>
          <p:nvPr/>
        </p:nvSpPr>
        <p:spPr>
          <a:xfrm>
            <a:off x="8503920" y="5577840"/>
            <a:ext cx="3108960" cy="320040"/>
          </a:xfrm>
          <a:prstGeom prst="rect">
            <a:avLst/>
          </a:prstGeom>
          <a:noFill/>
          <a:ln/>
        </p:spPr>
        <p:txBody>
          <a:bodyPr wrap="square" lIns="0" tIns="0" rIns="0" bIns="0" rtlCol="0" anchor="ctr"/>
          <a:lstStyle/>
          <a:p>
            <a:pPr indent="0" marL="0">
              <a:buNone/>
            </a:pPr>
            <a:r>
              <a:rPr lang="en-US" sz="1050" i="1" dirty="0">
                <a:solidFill>
                  <a:srgbClr val="4A5460"/>
                </a:solidFill>
                <a:latin typeface="Calibri" pitchFamily="34" charset="0"/>
                <a:ea typeface="Calibri" pitchFamily="34" charset="-122"/>
                <a:cs typeface="Calibri" pitchFamily="34" charset="-120"/>
              </a:rPr>
              <a:t>carry more than one chronic condition</a:t>
            </a:r>
            <a:endParaRPr lang="en-US" sz="1050" dirty="0"/>
          </a:p>
        </p:txBody>
      </p:sp>
      <p:sp>
        <p:nvSpPr>
          <p:cNvPr id="34" name="Text 32"/>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8A8275"/>
                </a:solidFill>
                <a:latin typeface="Calibri" pitchFamily="34" charset="0"/>
                <a:ea typeface="Calibri" pitchFamily="34" charset="-122"/>
                <a:cs typeface="Calibri" pitchFamily="34" charset="-120"/>
              </a:rPr>
              <a:t>11 / 14</a:t>
            </a:r>
            <a:endParaRPr lang="en-US" sz="900" dirty="0"/>
          </a:p>
        </p:txBody>
      </p:sp>
      <p:sp>
        <p:nvSpPr>
          <p:cNvPr id="35" name="Text 33"/>
          <p:cNvSpPr/>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8A8275"/>
                </a:solidFill>
                <a:latin typeface="Calibri" pitchFamily="34" charset="0"/>
                <a:ea typeface="Calibri" pitchFamily="34" charset="-122"/>
                <a:cs typeface="Calibri" pitchFamily="34" charset="-120"/>
              </a:rPr>
              <a:t>Vitalis Healthcare Project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06 · RECOMMENDATIONS</a:t>
            </a:r>
            <a:endParaRPr lang="en-US" sz="1000" dirty="0"/>
          </a:p>
        </p:txBody>
      </p:sp>
      <p:sp>
        <p:nvSpPr>
          <p:cNvPr id="3" name="Text 1"/>
          <p:cNvSpPr/>
          <p:nvPr/>
        </p:nvSpPr>
        <p:spPr>
          <a:xfrm>
            <a:off x="457200" y="822960"/>
            <a:ext cx="10972800" cy="640080"/>
          </a:xfrm>
          <a:prstGeom prst="rect">
            <a:avLst/>
          </a:prstGeom>
          <a:noFill/>
          <a:ln/>
        </p:spPr>
        <p:txBody>
          <a:bodyPr wrap="square" lIns="0" tIns="0" rIns="0" bIns="0" rtlCol="0" anchor="ctr"/>
          <a:lstStyle/>
          <a:p>
            <a:pPr indent="0" marL="0">
              <a:buNone/>
            </a:pPr>
            <a:r>
              <a:rPr lang="en-US" sz="3600" b="1" dirty="0">
                <a:solidFill>
                  <a:srgbClr val="1A2530"/>
                </a:solidFill>
                <a:latin typeface="Georgia" pitchFamily="34" charset="0"/>
                <a:ea typeface="Georgia" pitchFamily="34" charset="-122"/>
                <a:cs typeface="Georgia" pitchFamily="34" charset="-120"/>
              </a:rPr>
              <a:t>What to do about it</a:t>
            </a:r>
            <a:endParaRPr lang="en-US" sz="3600" dirty="0"/>
          </a:p>
        </p:txBody>
      </p:sp>
      <p:sp>
        <p:nvSpPr>
          <p:cNvPr id="4" name="Text 2"/>
          <p:cNvSpPr/>
          <p:nvPr/>
        </p:nvSpPr>
        <p:spPr>
          <a:xfrm>
            <a:off x="457200" y="1600200"/>
            <a:ext cx="10972800" cy="365760"/>
          </a:xfrm>
          <a:prstGeom prst="rect">
            <a:avLst/>
          </a:prstGeom>
          <a:noFill/>
          <a:ln/>
        </p:spPr>
        <p:txBody>
          <a:bodyPr wrap="square" lIns="0" tIns="0" rIns="0" bIns="0" rtlCol="0" anchor="ctr"/>
          <a:lstStyle/>
          <a:p>
            <a:pPr indent="0" marL="0">
              <a:buNone/>
            </a:pPr>
            <a:r>
              <a:rPr lang="en-US" sz="1200" i="1" dirty="0">
                <a:solidFill>
                  <a:srgbClr val="4A5460"/>
                </a:solidFill>
                <a:latin typeface="Calibri" pitchFamily="34" charset="0"/>
                <a:ea typeface="Calibri" pitchFamily="34" charset="-122"/>
                <a:cs typeface="Calibri" pitchFamily="34" charset="-120"/>
              </a:rPr>
              <a:t>Five concrete actions, ranked by expected impact.</a:t>
            </a:r>
            <a:endParaRPr lang="en-US" sz="1200" dirty="0"/>
          </a:p>
        </p:txBody>
      </p:sp>
      <p:sp>
        <p:nvSpPr>
          <p:cNvPr id="5" name="Text 3"/>
          <p:cNvSpPr/>
          <p:nvPr/>
        </p:nvSpPr>
        <p:spPr>
          <a:xfrm>
            <a:off x="457200" y="2057400"/>
            <a:ext cx="640080" cy="640080"/>
          </a:xfrm>
          <a:prstGeom prst="rect">
            <a:avLst/>
          </a:prstGeom>
          <a:noFill/>
          <a:ln/>
        </p:spPr>
        <p:txBody>
          <a:bodyPr wrap="square" lIns="0" tIns="0" rIns="0" bIns="0" rtlCol="0" anchor="t"/>
          <a:lstStyle/>
          <a:p>
            <a:pPr indent="0" marL="0">
              <a:buNone/>
            </a:pPr>
            <a:r>
              <a:rPr lang="en-US" sz="2800" b="1" dirty="0">
                <a:solidFill>
                  <a:srgbClr val="B8463A"/>
                </a:solidFill>
                <a:latin typeface="Georgia" pitchFamily="34" charset="0"/>
                <a:ea typeface="Georgia" pitchFamily="34" charset="-122"/>
                <a:cs typeface="Georgia" pitchFamily="34" charset="-120"/>
              </a:rPr>
              <a:t>01</a:t>
            </a:r>
            <a:endParaRPr lang="en-US" sz="2800" dirty="0"/>
          </a:p>
        </p:txBody>
      </p:sp>
      <p:sp>
        <p:nvSpPr>
          <p:cNvPr id="6" name="Text 4"/>
          <p:cNvSpPr/>
          <p:nvPr/>
        </p:nvSpPr>
        <p:spPr>
          <a:xfrm>
            <a:off x="1188720" y="2057400"/>
            <a:ext cx="3200400" cy="365760"/>
          </a:xfrm>
          <a:prstGeom prst="rect">
            <a:avLst/>
          </a:prstGeom>
          <a:noFill/>
          <a:ln/>
        </p:spPr>
        <p:txBody>
          <a:bodyPr wrap="square" lIns="0" tIns="0" rIns="0" bIns="0"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Reduce no-show rates</a:t>
            </a:r>
            <a:endParaRPr lang="en-US" sz="1400" dirty="0"/>
          </a:p>
        </p:txBody>
      </p:sp>
      <p:sp>
        <p:nvSpPr>
          <p:cNvPr id="7" name="Text 5"/>
          <p:cNvSpPr/>
          <p:nvPr/>
        </p:nvSpPr>
        <p:spPr>
          <a:xfrm>
            <a:off x="4480560" y="2057400"/>
            <a:ext cx="7223760" cy="731520"/>
          </a:xfrm>
          <a:prstGeom prst="rect">
            <a:avLst/>
          </a:prstGeom>
          <a:noFill/>
          <a:ln/>
        </p:spPr>
        <p:txBody>
          <a:bodyPr wrap="square" lIns="0" tIns="0" rIns="0" bIns="0" rtlCol="0" anchor="t"/>
          <a:lstStyle/>
          <a:p>
            <a:pPr indent="0" marL="0">
              <a:buNone/>
            </a:pPr>
            <a:r>
              <a:rPr lang="en-US" sz="1100" dirty="0">
                <a:solidFill>
                  <a:srgbClr val="4A5460"/>
                </a:solidFill>
                <a:latin typeface="Calibri" pitchFamily="34" charset="0"/>
                <a:ea typeface="Calibri" pitchFamily="34" charset="-122"/>
                <a:cs typeface="Calibri" pitchFamily="34" charset="-120"/>
              </a:rPr>
              <a:t>Implement automated SMS/email reminders and easier rescheduling. Industry data suggests this cuts no-shows by ~30%, recovering significant capacity.</a:t>
            </a:r>
            <a:endParaRPr lang="en-US" sz="1100" dirty="0"/>
          </a:p>
        </p:txBody>
      </p:sp>
      <p:sp>
        <p:nvSpPr>
          <p:cNvPr id="8" name="Text 6"/>
          <p:cNvSpPr/>
          <p:nvPr/>
        </p:nvSpPr>
        <p:spPr>
          <a:xfrm>
            <a:off x="457200" y="2834640"/>
            <a:ext cx="640080" cy="640080"/>
          </a:xfrm>
          <a:prstGeom prst="rect">
            <a:avLst/>
          </a:prstGeom>
          <a:noFill/>
          <a:ln/>
        </p:spPr>
        <p:txBody>
          <a:bodyPr wrap="square" lIns="0" tIns="0" rIns="0" bIns="0" rtlCol="0" anchor="t"/>
          <a:lstStyle/>
          <a:p>
            <a:pPr indent="0" marL="0">
              <a:buNone/>
            </a:pPr>
            <a:r>
              <a:rPr lang="en-US" sz="2800" b="1" dirty="0">
                <a:solidFill>
                  <a:srgbClr val="D9603F"/>
                </a:solidFill>
                <a:latin typeface="Georgia" pitchFamily="34" charset="0"/>
                <a:ea typeface="Georgia" pitchFamily="34" charset="-122"/>
                <a:cs typeface="Georgia" pitchFamily="34" charset="-120"/>
              </a:rPr>
              <a:t>02</a:t>
            </a:r>
            <a:endParaRPr lang="en-US" sz="2800" dirty="0"/>
          </a:p>
        </p:txBody>
      </p:sp>
      <p:sp>
        <p:nvSpPr>
          <p:cNvPr id="9" name="Text 7"/>
          <p:cNvSpPr/>
          <p:nvPr/>
        </p:nvSpPr>
        <p:spPr>
          <a:xfrm>
            <a:off x="1188720" y="2834640"/>
            <a:ext cx="3200400" cy="365760"/>
          </a:xfrm>
          <a:prstGeom prst="rect">
            <a:avLst/>
          </a:prstGeom>
          <a:noFill/>
          <a:ln/>
        </p:spPr>
        <p:txBody>
          <a:bodyPr wrap="square" lIns="0" tIns="0" rIns="0" bIns="0"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Strengthen chronic disease management</a:t>
            </a:r>
            <a:endParaRPr lang="en-US" sz="1400" dirty="0"/>
          </a:p>
        </p:txBody>
      </p:sp>
      <p:sp>
        <p:nvSpPr>
          <p:cNvPr id="10" name="Text 8"/>
          <p:cNvSpPr/>
          <p:nvPr/>
        </p:nvSpPr>
        <p:spPr>
          <a:xfrm>
            <a:off x="4480560" y="2834640"/>
            <a:ext cx="7223760" cy="731520"/>
          </a:xfrm>
          <a:prstGeom prst="rect">
            <a:avLst/>
          </a:prstGeom>
          <a:noFill/>
          <a:ln/>
        </p:spPr>
        <p:txBody>
          <a:bodyPr wrap="square" lIns="0" tIns="0" rIns="0" bIns="0" rtlCol="0" anchor="t"/>
          <a:lstStyle/>
          <a:p>
            <a:pPr indent="0" marL="0">
              <a:buNone/>
            </a:pPr>
            <a:r>
              <a:rPr lang="en-US" sz="1100" dirty="0">
                <a:solidFill>
                  <a:srgbClr val="4A5460"/>
                </a:solidFill>
                <a:latin typeface="Calibri" pitchFamily="34" charset="0"/>
                <a:ea typeface="Calibri" pitchFamily="34" charset="-122"/>
                <a:cs typeface="Calibri" pitchFamily="34" charset="-120"/>
              </a:rPr>
              <a:t>Develop targeted programs for hypertension and diabetes. 3,533 patients carry multiple diagnoses — coordinated care reduces complications and repeat visits.</a:t>
            </a:r>
            <a:endParaRPr lang="en-US" sz="1100" dirty="0"/>
          </a:p>
        </p:txBody>
      </p:sp>
      <p:sp>
        <p:nvSpPr>
          <p:cNvPr id="11" name="Text 9"/>
          <p:cNvSpPr/>
          <p:nvPr/>
        </p:nvSpPr>
        <p:spPr>
          <a:xfrm>
            <a:off x="457200" y="3611880"/>
            <a:ext cx="640080" cy="640080"/>
          </a:xfrm>
          <a:prstGeom prst="rect">
            <a:avLst/>
          </a:prstGeom>
          <a:noFill/>
          <a:ln/>
        </p:spPr>
        <p:txBody>
          <a:bodyPr wrap="square" lIns="0" tIns="0" rIns="0" bIns="0" rtlCol="0" anchor="t"/>
          <a:lstStyle/>
          <a:p>
            <a:pPr indent="0" marL="0">
              <a:buNone/>
            </a:pPr>
            <a:r>
              <a:rPr lang="en-US" sz="2800" b="1" dirty="0">
                <a:solidFill>
                  <a:srgbClr val="3D6655"/>
                </a:solidFill>
                <a:latin typeface="Georgia" pitchFamily="34" charset="0"/>
                <a:ea typeface="Georgia" pitchFamily="34" charset="-122"/>
                <a:cs typeface="Georgia" pitchFamily="34" charset="-120"/>
              </a:rPr>
              <a:t>03</a:t>
            </a:r>
            <a:endParaRPr lang="en-US" sz="2800" dirty="0"/>
          </a:p>
        </p:txBody>
      </p:sp>
      <p:sp>
        <p:nvSpPr>
          <p:cNvPr id="12" name="Text 10"/>
          <p:cNvSpPr/>
          <p:nvPr/>
        </p:nvSpPr>
        <p:spPr>
          <a:xfrm>
            <a:off x="1188720" y="3611880"/>
            <a:ext cx="3200400" cy="365760"/>
          </a:xfrm>
          <a:prstGeom prst="rect">
            <a:avLst/>
          </a:prstGeom>
          <a:noFill/>
          <a:ln/>
        </p:spPr>
        <p:txBody>
          <a:bodyPr wrap="square" lIns="0" tIns="0" rIns="0" bIns="0"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Optimise high-revenue specialties</a:t>
            </a:r>
            <a:endParaRPr lang="en-US" sz="1400" dirty="0"/>
          </a:p>
        </p:txBody>
      </p:sp>
      <p:sp>
        <p:nvSpPr>
          <p:cNvPr id="13" name="Text 11"/>
          <p:cNvSpPr/>
          <p:nvPr/>
        </p:nvSpPr>
        <p:spPr>
          <a:xfrm>
            <a:off x="4480560" y="3611880"/>
            <a:ext cx="7223760" cy="731520"/>
          </a:xfrm>
          <a:prstGeom prst="rect">
            <a:avLst/>
          </a:prstGeom>
          <a:noFill/>
          <a:ln/>
        </p:spPr>
        <p:txBody>
          <a:bodyPr wrap="square" lIns="0" tIns="0" rIns="0" bIns="0" rtlCol="0" anchor="t"/>
          <a:lstStyle/>
          <a:p>
            <a:pPr indent="0" marL="0">
              <a:buNone/>
            </a:pPr>
            <a:r>
              <a:rPr lang="en-US" sz="1100" dirty="0">
                <a:solidFill>
                  <a:srgbClr val="4A5460"/>
                </a:solidFill>
                <a:latin typeface="Calibri" pitchFamily="34" charset="0"/>
                <a:ea typeface="Calibri" pitchFamily="34" charset="-122"/>
                <a:cs typeface="Calibri" pitchFamily="34" charset="-120"/>
              </a:rPr>
              <a:t>Invest in Orthopedics and Cardiology (the top two revenue producers): specialist staffing, equipment upgrades, throughput improvements.</a:t>
            </a:r>
            <a:endParaRPr lang="en-US" sz="1100" dirty="0"/>
          </a:p>
        </p:txBody>
      </p:sp>
      <p:sp>
        <p:nvSpPr>
          <p:cNvPr id="14" name="Text 12"/>
          <p:cNvSpPr/>
          <p:nvPr/>
        </p:nvSpPr>
        <p:spPr>
          <a:xfrm>
            <a:off x="457200" y="4389120"/>
            <a:ext cx="640080" cy="640080"/>
          </a:xfrm>
          <a:prstGeom prst="rect">
            <a:avLst/>
          </a:prstGeom>
          <a:noFill/>
          <a:ln/>
        </p:spPr>
        <p:txBody>
          <a:bodyPr wrap="square" lIns="0" tIns="0" rIns="0" bIns="0" rtlCol="0" anchor="t"/>
          <a:lstStyle/>
          <a:p>
            <a:pPr indent="0" marL="0">
              <a:buNone/>
            </a:pPr>
            <a:r>
              <a:rPr lang="en-US" sz="2800" b="1" dirty="0">
                <a:solidFill>
                  <a:srgbClr val="5F7FAA"/>
                </a:solidFill>
                <a:latin typeface="Georgia" pitchFamily="34" charset="0"/>
                <a:ea typeface="Georgia" pitchFamily="34" charset="-122"/>
                <a:cs typeface="Georgia" pitchFamily="34" charset="-120"/>
              </a:rPr>
              <a:t>04</a:t>
            </a:r>
            <a:endParaRPr lang="en-US" sz="2800" dirty="0"/>
          </a:p>
        </p:txBody>
      </p:sp>
      <p:sp>
        <p:nvSpPr>
          <p:cNvPr id="15" name="Text 13"/>
          <p:cNvSpPr/>
          <p:nvPr/>
        </p:nvSpPr>
        <p:spPr>
          <a:xfrm>
            <a:off x="1188720" y="4389120"/>
            <a:ext cx="3200400" cy="365760"/>
          </a:xfrm>
          <a:prstGeom prst="rect">
            <a:avLst/>
          </a:prstGeom>
          <a:noFill/>
          <a:ln/>
        </p:spPr>
        <p:txBody>
          <a:bodyPr wrap="square" lIns="0" tIns="0" rIns="0" bIns="0"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Improve lower-revenue locations</a:t>
            </a:r>
            <a:endParaRPr lang="en-US" sz="1400" dirty="0"/>
          </a:p>
        </p:txBody>
      </p:sp>
      <p:sp>
        <p:nvSpPr>
          <p:cNvPr id="16" name="Text 14"/>
          <p:cNvSpPr/>
          <p:nvPr/>
        </p:nvSpPr>
        <p:spPr>
          <a:xfrm>
            <a:off x="4480560" y="4389120"/>
            <a:ext cx="7223760" cy="731520"/>
          </a:xfrm>
          <a:prstGeom prst="rect">
            <a:avLst/>
          </a:prstGeom>
          <a:noFill/>
          <a:ln/>
        </p:spPr>
        <p:txBody>
          <a:bodyPr wrap="square" lIns="0" tIns="0" rIns="0" bIns="0" rtlCol="0" anchor="t"/>
          <a:lstStyle/>
          <a:p>
            <a:pPr indent="0" marL="0">
              <a:buNone/>
            </a:pPr>
            <a:r>
              <a:rPr lang="en-US" sz="1100" dirty="0">
                <a:solidFill>
                  <a:srgbClr val="4A5460"/>
                </a:solidFill>
                <a:latin typeface="Calibri" pitchFamily="34" charset="0"/>
                <a:ea typeface="Calibri" pitchFamily="34" charset="-122"/>
                <a:cs typeface="Calibri" pitchFamily="34" charset="-120"/>
              </a:rPr>
              <a:t>Audit Olympia and Portland (lowest-grossing clinics): access, staffing, specialty mix. Localised improvement plans can close the gap with Seattle.</a:t>
            </a:r>
            <a:endParaRPr lang="en-US" sz="1100" dirty="0"/>
          </a:p>
        </p:txBody>
      </p:sp>
      <p:sp>
        <p:nvSpPr>
          <p:cNvPr id="17" name="Text 15"/>
          <p:cNvSpPr/>
          <p:nvPr/>
        </p:nvSpPr>
        <p:spPr>
          <a:xfrm>
            <a:off x="457200" y="5166360"/>
            <a:ext cx="640080" cy="640080"/>
          </a:xfrm>
          <a:prstGeom prst="rect">
            <a:avLst/>
          </a:prstGeom>
          <a:noFill/>
          <a:ln/>
        </p:spPr>
        <p:txBody>
          <a:bodyPr wrap="square" lIns="0" tIns="0" rIns="0" bIns="0" rtlCol="0" anchor="t"/>
          <a:lstStyle/>
          <a:p>
            <a:pPr indent="0" marL="0">
              <a:buNone/>
            </a:pPr>
            <a:r>
              <a:rPr lang="en-US" sz="2800" b="1" dirty="0">
                <a:solidFill>
                  <a:srgbClr val="C2A046"/>
                </a:solidFill>
                <a:latin typeface="Georgia" pitchFamily="34" charset="0"/>
                <a:ea typeface="Georgia" pitchFamily="34" charset="-122"/>
                <a:cs typeface="Georgia" pitchFamily="34" charset="-120"/>
              </a:rPr>
              <a:t>05</a:t>
            </a:r>
            <a:endParaRPr lang="en-US" sz="2800" dirty="0"/>
          </a:p>
        </p:txBody>
      </p:sp>
      <p:sp>
        <p:nvSpPr>
          <p:cNvPr id="18" name="Text 16"/>
          <p:cNvSpPr/>
          <p:nvPr/>
        </p:nvSpPr>
        <p:spPr>
          <a:xfrm>
            <a:off x="1188720" y="5166360"/>
            <a:ext cx="3200400" cy="365760"/>
          </a:xfrm>
          <a:prstGeom prst="rect">
            <a:avLst/>
          </a:prstGeom>
          <a:noFill/>
          <a:ln/>
        </p:spPr>
        <p:txBody>
          <a:bodyPr wrap="square" lIns="0" tIns="0" rIns="0" bIns="0"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Enhance preventive care for 65+</a:t>
            </a:r>
            <a:endParaRPr lang="en-US" sz="1400" dirty="0"/>
          </a:p>
        </p:txBody>
      </p:sp>
      <p:sp>
        <p:nvSpPr>
          <p:cNvPr id="19" name="Text 17"/>
          <p:cNvSpPr/>
          <p:nvPr/>
        </p:nvSpPr>
        <p:spPr>
          <a:xfrm>
            <a:off x="4480560" y="5166360"/>
            <a:ext cx="7223760" cy="731520"/>
          </a:xfrm>
          <a:prstGeom prst="rect">
            <a:avLst/>
          </a:prstGeom>
          <a:noFill/>
          <a:ln/>
        </p:spPr>
        <p:txBody>
          <a:bodyPr wrap="square" lIns="0" tIns="0" rIns="0" bIns="0" rtlCol="0" anchor="t"/>
          <a:lstStyle/>
          <a:p>
            <a:pPr indent="0" marL="0">
              <a:buNone/>
            </a:pPr>
            <a:r>
              <a:rPr lang="en-US" sz="1100" dirty="0">
                <a:solidFill>
                  <a:srgbClr val="4A5460"/>
                </a:solidFill>
                <a:latin typeface="Calibri" pitchFamily="34" charset="0"/>
                <a:ea typeface="Calibri" pitchFamily="34" charset="-122"/>
                <a:cs typeface="Calibri" pitchFamily="34" charset="-120"/>
              </a:rPr>
              <a:t>Patients 65+ generate the highest treatment costs ($1.80M). Expand screening and preventive programs to manage long-term cost and improve outcomes.</a:t>
            </a:r>
            <a:endParaRPr lang="en-US" sz="1100" dirty="0"/>
          </a:p>
        </p:txBody>
      </p:sp>
      <p:sp>
        <p:nvSpPr>
          <p:cNvPr id="20" name="Text 18"/>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8A8275"/>
                </a:solidFill>
                <a:latin typeface="Calibri" pitchFamily="34" charset="0"/>
                <a:ea typeface="Calibri" pitchFamily="34" charset="-122"/>
                <a:cs typeface="Calibri" pitchFamily="34" charset="-120"/>
              </a:rPr>
              <a:t>12 / 14</a:t>
            </a:r>
            <a:endParaRPr lang="en-US" sz="900" dirty="0"/>
          </a:p>
        </p:txBody>
      </p:sp>
      <p:sp>
        <p:nvSpPr>
          <p:cNvPr id="21" name="Text 19"/>
          <p:cNvSpPr/>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8A8275"/>
                </a:solidFill>
                <a:latin typeface="Calibri" pitchFamily="34" charset="0"/>
                <a:ea typeface="Calibri" pitchFamily="34" charset="-122"/>
                <a:cs typeface="Calibri" pitchFamily="34" charset="-120"/>
              </a:rPr>
              <a:t>Vitalis Healthcare Project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b="1" spc="300" kern="0" dirty="0">
                <a:solidFill>
                  <a:srgbClr val="8A8275"/>
                </a:solidFill>
                <a:latin typeface="Calibri" pitchFamily="34" charset="0"/>
                <a:ea typeface="Calibri" pitchFamily="34" charset="-122"/>
                <a:cs typeface="Calibri" pitchFamily="34" charset="-120"/>
              </a:rPr>
              <a:t>07 · COMPONENTS</a:t>
            </a:r>
            <a:endParaRPr lang="en-US" sz="1000" dirty="0"/>
          </a:p>
        </p:txBody>
      </p:sp>
      <p:sp>
        <p:nvSpPr>
          <p:cNvPr id="3" name="Text 1"/>
          <p:cNvSpPr/>
          <p:nvPr/>
        </p:nvSpPr>
        <p:spPr>
          <a:xfrm>
            <a:off x="457200" y="822960"/>
            <a:ext cx="10972800" cy="640080"/>
          </a:xfrm>
          <a:prstGeom prst="rect">
            <a:avLst/>
          </a:prstGeom>
          <a:noFill/>
          <a:ln/>
        </p:spPr>
        <p:txBody>
          <a:bodyPr wrap="square" lIns="0" tIns="0" rIns="0" bIns="0" rtlCol="0" anchor="ctr"/>
          <a:lstStyle/>
          <a:p>
            <a:pPr indent="0" marL="0">
              <a:buNone/>
            </a:pPr>
            <a:r>
              <a:rPr lang="en-US" sz="3200" b="1" dirty="0">
                <a:solidFill>
                  <a:srgbClr val="1A2530"/>
                </a:solidFill>
                <a:latin typeface="Georgia" pitchFamily="34" charset="0"/>
                <a:ea typeface="Georgia" pitchFamily="34" charset="-122"/>
                <a:cs typeface="Georgia" pitchFamily="34" charset="-120"/>
              </a:rPr>
              <a:t>How the project is built</a:t>
            </a:r>
            <a:endParaRPr lang="en-US" sz="3200" dirty="0"/>
          </a:p>
        </p:txBody>
      </p:sp>
      <p:sp>
        <p:nvSpPr>
          <p:cNvPr id="4" name="Text 2"/>
          <p:cNvSpPr/>
          <p:nvPr/>
        </p:nvSpPr>
        <p:spPr>
          <a:xfrm>
            <a:off x="457200" y="1600200"/>
            <a:ext cx="10972800" cy="548640"/>
          </a:xfrm>
          <a:prstGeom prst="rect">
            <a:avLst/>
          </a:prstGeom>
          <a:noFill/>
          <a:ln/>
        </p:spPr>
        <p:txBody>
          <a:bodyPr wrap="square" lIns="0" tIns="0" rIns="0" bIns="0" rtlCol="0" anchor="ctr"/>
          <a:lstStyle/>
          <a:p>
            <a:pPr indent="0" marL="0">
              <a:buNone/>
            </a:pPr>
            <a:r>
              <a:rPr lang="en-US" sz="1300" i="1" dirty="0">
                <a:solidFill>
                  <a:srgbClr val="4A5460"/>
                </a:solidFill>
                <a:latin typeface="Calibri" pitchFamily="34" charset="0"/>
                <a:ea typeface="Calibri" pitchFamily="34" charset="-122"/>
                <a:cs typeface="Calibri" pitchFamily="34" charset="-120"/>
              </a:rPr>
              <a:t>Three pieces fit together: data layer, analytics layer, presentation layer. Each can be developed and deployed independently.</a:t>
            </a:r>
            <a:endParaRPr lang="en-US" sz="1300" dirty="0"/>
          </a:p>
        </p:txBody>
      </p:sp>
      <p:sp>
        <p:nvSpPr>
          <p:cNvPr id="5" name="Shape 3"/>
          <p:cNvSpPr/>
          <p:nvPr/>
        </p:nvSpPr>
        <p:spPr>
          <a:xfrm>
            <a:off x="457200" y="2331720"/>
            <a:ext cx="3657600" cy="3931920"/>
          </a:xfrm>
          <a:prstGeom prst="roundRect">
            <a:avLst>
              <a:gd name="adj" fmla="val 3000"/>
            </a:avLst>
          </a:prstGeom>
          <a:solidFill>
            <a:srgbClr val="FBF9F4"/>
          </a:solidFill>
          <a:ln w="12700">
            <a:solidFill>
              <a:srgbClr val="D9D2BF"/>
            </a:solidFill>
            <a:prstDash val="solid"/>
          </a:ln>
        </p:spPr>
      </p:sp>
      <p:sp>
        <p:nvSpPr>
          <p:cNvPr id="6" name="Shape 4"/>
          <p:cNvSpPr/>
          <p:nvPr/>
        </p:nvSpPr>
        <p:spPr>
          <a:xfrm>
            <a:off x="731520" y="2514600"/>
            <a:ext cx="548640" cy="548640"/>
          </a:xfrm>
          <a:prstGeom prst="ellipse">
            <a:avLst/>
          </a:prstGeom>
          <a:solidFill>
            <a:srgbClr val="3D6655"/>
          </a:solidFill>
          <a:ln w="12700">
            <a:solidFill>
              <a:srgbClr val="3D6655"/>
            </a:solidFill>
            <a:prstDash val="solid"/>
          </a:ln>
        </p:spPr>
      </p:sp>
      <p:sp>
        <p:nvSpPr>
          <p:cNvPr id="7" name="Text 5"/>
          <p:cNvSpPr/>
          <p:nvPr/>
        </p:nvSpPr>
        <p:spPr>
          <a:xfrm>
            <a:off x="731520" y="2514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1371600" y="2514600"/>
            <a:ext cx="2560320" cy="274320"/>
          </a:xfrm>
          <a:prstGeom prst="rect">
            <a:avLst/>
          </a:prstGeom>
          <a:noFill/>
          <a:ln/>
        </p:spPr>
        <p:txBody>
          <a:bodyPr wrap="square" lIns="0" tIns="0" rIns="0" bIns="0" rtlCol="0" anchor="ctr"/>
          <a:lstStyle/>
          <a:p>
            <a:pPr indent="0" marL="0">
              <a:buNone/>
            </a:pPr>
            <a:r>
              <a:rPr lang="en-US" sz="1000" b="1" spc="300" kern="0" dirty="0">
                <a:solidFill>
                  <a:srgbClr val="D9603F"/>
                </a:solidFill>
                <a:latin typeface="Calibri" pitchFamily="34" charset="0"/>
                <a:ea typeface="Calibri" pitchFamily="34" charset="-122"/>
                <a:cs typeface="Calibri" pitchFamily="34" charset="-120"/>
              </a:rPr>
              <a:t>Data layer</a:t>
            </a:r>
            <a:endParaRPr lang="en-US" sz="1000" dirty="0"/>
          </a:p>
        </p:txBody>
      </p:sp>
      <p:sp>
        <p:nvSpPr>
          <p:cNvPr id="9" name="Text 7"/>
          <p:cNvSpPr/>
          <p:nvPr/>
        </p:nvSpPr>
        <p:spPr>
          <a:xfrm>
            <a:off x="1371600" y="2743200"/>
            <a:ext cx="2560320" cy="365760"/>
          </a:xfrm>
          <a:prstGeom prst="rect">
            <a:avLst/>
          </a:prstGeom>
          <a:noFill/>
          <a:ln/>
        </p:spPr>
        <p:txBody>
          <a:bodyPr wrap="square" lIns="0" tIns="0" rIns="0" bIns="0" rtlCol="0" anchor="ctr"/>
          <a:lstStyle/>
          <a:p>
            <a:pPr indent="0" marL="0">
              <a:buNone/>
            </a:pPr>
            <a:r>
              <a:rPr lang="en-US" sz="2000" b="1" dirty="0">
                <a:solidFill>
                  <a:srgbClr val="1A2530"/>
                </a:solidFill>
                <a:latin typeface="Georgia" pitchFamily="34" charset="0"/>
                <a:ea typeface="Georgia" pitchFamily="34" charset="-122"/>
                <a:cs typeface="Georgia" pitchFamily="34" charset="-120"/>
              </a:rPr>
              <a:t>SQL</a:t>
            </a:r>
            <a:endParaRPr lang="en-US" sz="2000" dirty="0"/>
          </a:p>
        </p:txBody>
      </p:sp>
      <p:sp>
        <p:nvSpPr>
          <p:cNvPr id="10" name="Text 8"/>
          <p:cNvSpPr/>
          <p:nvPr/>
        </p:nvSpPr>
        <p:spPr>
          <a:xfrm>
            <a:off x="731520" y="3246120"/>
            <a:ext cx="3200400" cy="2880360"/>
          </a:xfrm>
          <a:prstGeom prst="rect">
            <a:avLst/>
          </a:prstGeom>
          <a:noFill/>
          <a:ln/>
        </p:spPr>
        <p:txBody>
          <a:bodyPr wrap="square" lIns="0" tIns="0" rIns="0" bIns="0" rtlCol="0" anchor="t"/>
          <a:lstStyle/>
          <a:p>
            <a:pPr indent="0" marL="0">
              <a:buNone/>
            </a:pPr>
            <a:r>
              <a:rPr lang="en-US" sz="1100" dirty="0">
                <a:solidFill>
                  <a:srgbClr val="4A5460"/>
                </a:solidFill>
                <a:latin typeface="Calibri" pitchFamily="34" charset="0"/>
                <a:ea typeface="Calibri" pitchFamily="34" charset="-122"/>
                <a:cs typeface="Calibri" pitchFamily="34" charset="-120"/>
              </a:rPr>
              <a:t>PostgreSQL schema with 6 tables.</a:t>
            </a:r>
            <a:endParaRPr lang="en-US" sz="1100" dirty="0"/>
          </a:p>
          <a:p>
            <a:pPr indent="0" marL="0">
              <a:buNone/>
            </a:pPr>
            <a:endParaRPr lang="en-US" sz="1100" dirty="0"/>
          </a:p>
          <a:p>
            <a:pPr indent="0" marL="0">
              <a:buNone/>
            </a:pPr>
            <a:r>
              <a:rPr lang="en-US" sz="1100" dirty="0">
                <a:solidFill>
                  <a:srgbClr val="4A5460"/>
                </a:solidFill>
                <a:latin typeface="Calibri" pitchFamily="34" charset="0"/>
                <a:ea typeface="Calibri" pitchFamily="34" charset="-122"/>
                <a:cs typeface="Calibri" pitchFamily="34" charset="-120"/>
              </a:rPr>
              <a:t>17 analytical queries answering business questions about patients, doctors, revenue, diagnoses.</a:t>
            </a:r>
            <a:endParaRPr lang="en-US" sz="1100" dirty="0"/>
          </a:p>
          <a:p>
            <a:pPr indent="0" marL="0">
              <a:buNone/>
            </a:pPr>
            <a:endParaRPr lang="en-US" sz="1100" dirty="0"/>
          </a:p>
          <a:p>
            <a:pPr indent="0" marL="0">
              <a:buNone/>
            </a:pPr>
            <a:r>
              <a:rPr lang="en-US" sz="1100" dirty="0">
                <a:solidFill>
                  <a:srgbClr val="4A5460"/>
                </a:solidFill>
                <a:latin typeface="Calibri" pitchFamily="34" charset="0"/>
                <a:ea typeface="Calibri" pitchFamily="34" charset="-122"/>
                <a:cs typeface="Calibri" pitchFamily="34" charset="-120"/>
              </a:rPr>
              <a:t>Common pitfalls (integer division, name collisions in GROUP BY, lexicographic comparison) flagged and fixed.</a:t>
            </a:r>
            <a:endParaRPr lang="en-US" sz="1100" dirty="0"/>
          </a:p>
        </p:txBody>
      </p:sp>
      <p:sp>
        <p:nvSpPr>
          <p:cNvPr id="11" name="Shape 9"/>
          <p:cNvSpPr/>
          <p:nvPr/>
        </p:nvSpPr>
        <p:spPr>
          <a:xfrm>
            <a:off x="4361688" y="2331720"/>
            <a:ext cx="3657600" cy="3931920"/>
          </a:xfrm>
          <a:prstGeom prst="roundRect">
            <a:avLst>
              <a:gd name="adj" fmla="val 3000"/>
            </a:avLst>
          </a:prstGeom>
          <a:solidFill>
            <a:srgbClr val="FBF9F4"/>
          </a:solidFill>
          <a:ln w="12700">
            <a:solidFill>
              <a:srgbClr val="D9D2BF"/>
            </a:solidFill>
            <a:prstDash val="solid"/>
          </a:ln>
        </p:spPr>
      </p:sp>
      <p:sp>
        <p:nvSpPr>
          <p:cNvPr id="12" name="Shape 10"/>
          <p:cNvSpPr/>
          <p:nvPr/>
        </p:nvSpPr>
        <p:spPr>
          <a:xfrm>
            <a:off x="4636008" y="2514600"/>
            <a:ext cx="548640" cy="548640"/>
          </a:xfrm>
          <a:prstGeom prst="ellipse">
            <a:avLst/>
          </a:prstGeom>
          <a:solidFill>
            <a:srgbClr val="3D6655"/>
          </a:solidFill>
          <a:ln w="12700">
            <a:solidFill>
              <a:srgbClr val="3D6655"/>
            </a:solidFill>
            <a:prstDash val="solid"/>
          </a:ln>
        </p:spPr>
      </p:sp>
      <p:sp>
        <p:nvSpPr>
          <p:cNvPr id="13" name="Text 11"/>
          <p:cNvSpPr/>
          <p:nvPr/>
        </p:nvSpPr>
        <p:spPr>
          <a:xfrm>
            <a:off x="4636008" y="2514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02</a:t>
            </a:r>
            <a:endParaRPr lang="en-US" sz="1800" dirty="0"/>
          </a:p>
        </p:txBody>
      </p:sp>
      <p:sp>
        <p:nvSpPr>
          <p:cNvPr id="14" name="Text 12"/>
          <p:cNvSpPr/>
          <p:nvPr/>
        </p:nvSpPr>
        <p:spPr>
          <a:xfrm>
            <a:off x="5276088" y="2514600"/>
            <a:ext cx="2560320" cy="274320"/>
          </a:xfrm>
          <a:prstGeom prst="rect">
            <a:avLst/>
          </a:prstGeom>
          <a:noFill/>
          <a:ln/>
        </p:spPr>
        <p:txBody>
          <a:bodyPr wrap="square" lIns="0" tIns="0" rIns="0" bIns="0" rtlCol="0" anchor="ctr"/>
          <a:lstStyle/>
          <a:p>
            <a:pPr indent="0" marL="0">
              <a:buNone/>
            </a:pPr>
            <a:r>
              <a:rPr lang="en-US" sz="1000" b="1" spc="300" kern="0" dirty="0">
                <a:solidFill>
                  <a:srgbClr val="D9603F"/>
                </a:solidFill>
                <a:latin typeface="Calibri" pitchFamily="34" charset="0"/>
                <a:ea typeface="Calibri" pitchFamily="34" charset="-122"/>
                <a:cs typeface="Calibri" pitchFamily="34" charset="-120"/>
              </a:rPr>
              <a:t>Analytics layer</a:t>
            </a:r>
            <a:endParaRPr lang="en-US" sz="1000" dirty="0"/>
          </a:p>
        </p:txBody>
      </p:sp>
      <p:sp>
        <p:nvSpPr>
          <p:cNvPr id="15" name="Text 13"/>
          <p:cNvSpPr/>
          <p:nvPr/>
        </p:nvSpPr>
        <p:spPr>
          <a:xfrm>
            <a:off x="5276088" y="2743200"/>
            <a:ext cx="2560320" cy="365760"/>
          </a:xfrm>
          <a:prstGeom prst="rect">
            <a:avLst/>
          </a:prstGeom>
          <a:noFill/>
          <a:ln/>
        </p:spPr>
        <p:txBody>
          <a:bodyPr wrap="square" lIns="0" tIns="0" rIns="0" bIns="0" rtlCol="0" anchor="ctr"/>
          <a:lstStyle/>
          <a:p>
            <a:pPr indent="0" marL="0">
              <a:buNone/>
            </a:pPr>
            <a:r>
              <a:rPr lang="en-US" sz="2000" b="1" dirty="0">
                <a:solidFill>
                  <a:srgbClr val="1A2530"/>
                </a:solidFill>
                <a:latin typeface="Georgia" pitchFamily="34" charset="0"/>
                <a:ea typeface="Georgia" pitchFamily="34" charset="-122"/>
                <a:cs typeface="Georgia" pitchFamily="34" charset="-120"/>
              </a:rPr>
              <a:t>Power BI</a:t>
            </a:r>
            <a:endParaRPr lang="en-US" sz="2000" dirty="0"/>
          </a:p>
        </p:txBody>
      </p:sp>
      <p:sp>
        <p:nvSpPr>
          <p:cNvPr id="16" name="Text 14"/>
          <p:cNvSpPr/>
          <p:nvPr/>
        </p:nvSpPr>
        <p:spPr>
          <a:xfrm>
            <a:off x="4636008" y="3246120"/>
            <a:ext cx="3200400" cy="2880360"/>
          </a:xfrm>
          <a:prstGeom prst="rect">
            <a:avLst/>
          </a:prstGeom>
          <a:noFill/>
          <a:ln/>
        </p:spPr>
        <p:txBody>
          <a:bodyPr wrap="square" lIns="0" tIns="0" rIns="0" bIns="0" rtlCol="0" anchor="t"/>
          <a:lstStyle/>
          <a:p>
            <a:pPr indent="0" marL="0">
              <a:buNone/>
            </a:pPr>
            <a:r>
              <a:rPr lang="en-US" sz="1100" dirty="0">
                <a:solidFill>
                  <a:srgbClr val="4A5460"/>
                </a:solidFill>
                <a:latin typeface="Calibri" pitchFamily="34" charset="0"/>
                <a:ea typeface="Calibri" pitchFamily="34" charset="-122"/>
                <a:cs typeface="Calibri" pitchFamily="34" charset="-120"/>
              </a:rPr>
              <a:t>6 interactive dashboard pages (Demographics, Specialty, Diagnosis, Financial, Operations, Patient).</a:t>
            </a:r>
            <a:endParaRPr lang="en-US" sz="1100" dirty="0"/>
          </a:p>
          <a:p>
            <a:pPr indent="0" marL="0">
              <a:buNone/>
            </a:pPr>
            <a:endParaRPr lang="en-US" sz="1100" dirty="0"/>
          </a:p>
          <a:p>
            <a:pPr indent="0" marL="0">
              <a:buNone/>
            </a:pPr>
            <a:r>
              <a:rPr lang="en-US" sz="1100" dirty="0">
                <a:solidFill>
                  <a:srgbClr val="4A5460"/>
                </a:solidFill>
                <a:latin typeface="Calibri" pitchFamily="34" charset="0"/>
                <a:ea typeface="Calibri" pitchFamily="34" charset="-122"/>
                <a:cs typeface="Calibri" pitchFamily="34" charset="-120"/>
              </a:rPr>
              <a:t>23 DAX measures: counts, ratios, period comparisons, classifications.</a:t>
            </a:r>
            <a:endParaRPr lang="en-US" sz="1100" dirty="0"/>
          </a:p>
          <a:p>
            <a:pPr indent="0" marL="0">
              <a:buNone/>
            </a:pPr>
            <a:endParaRPr lang="en-US" sz="1100" dirty="0"/>
          </a:p>
          <a:p>
            <a:pPr indent="0" marL="0">
              <a:buNone/>
            </a:pPr>
            <a:r>
              <a:rPr lang="en-US" sz="1100" dirty="0">
                <a:solidFill>
                  <a:srgbClr val="4A5460"/>
                </a:solidFill>
                <a:latin typeface="Calibri" pitchFamily="34" charset="0"/>
                <a:ea typeface="Calibri" pitchFamily="34" charset="-122"/>
                <a:cs typeface="Calibri" pitchFamily="34" charset="-120"/>
              </a:rPr>
              <a:t>Sort-by columns for chronologically-ordered axes (Age Group, Day of Week, Month).</a:t>
            </a:r>
            <a:endParaRPr lang="en-US" sz="1100" dirty="0"/>
          </a:p>
        </p:txBody>
      </p:sp>
      <p:sp>
        <p:nvSpPr>
          <p:cNvPr id="17" name="Shape 15"/>
          <p:cNvSpPr/>
          <p:nvPr/>
        </p:nvSpPr>
        <p:spPr>
          <a:xfrm>
            <a:off x="8266176" y="2331720"/>
            <a:ext cx="3657600" cy="3931920"/>
          </a:xfrm>
          <a:prstGeom prst="roundRect">
            <a:avLst>
              <a:gd name="adj" fmla="val 3000"/>
            </a:avLst>
          </a:prstGeom>
          <a:solidFill>
            <a:srgbClr val="FBF9F4"/>
          </a:solidFill>
          <a:ln w="12700">
            <a:solidFill>
              <a:srgbClr val="D9D2BF"/>
            </a:solidFill>
            <a:prstDash val="solid"/>
          </a:ln>
        </p:spPr>
      </p:sp>
      <p:sp>
        <p:nvSpPr>
          <p:cNvPr id="18" name="Shape 16"/>
          <p:cNvSpPr/>
          <p:nvPr/>
        </p:nvSpPr>
        <p:spPr>
          <a:xfrm>
            <a:off x="8540496" y="2514600"/>
            <a:ext cx="548640" cy="548640"/>
          </a:xfrm>
          <a:prstGeom prst="ellipse">
            <a:avLst/>
          </a:prstGeom>
          <a:solidFill>
            <a:srgbClr val="3D6655"/>
          </a:solidFill>
          <a:ln w="12700">
            <a:solidFill>
              <a:srgbClr val="3D6655"/>
            </a:solidFill>
            <a:prstDash val="solid"/>
          </a:ln>
        </p:spPr>
      </p:sp>
      <p:sp>
        <p:nvSpPr>
          <p:cNvPr id="19" name="Text 17"/>
          <p:cNvSpPr/>
          <p:nvPr/>
        </p:nvSpPr>
        <p:spPr>
          <a:xfrm>
            <a:off x="8540496" y="2514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03</a:t>
            </a:r>
            <a:endParaRPr lang="en-US" sz="1800" dirty="0"/>
          </a:p>
        </p:txBody>
      </p:sp>
      <p:sp>
        <p:nvSpPr>
          <p:cNvPr id="20" name="Text 18"/>
          <p:cNvSpPr/>
          <p:nvPr/>
        </p:nvSpPr>
        <p:spPr>
          <a:xfrm>
            <a:off x="9180576" y="2514600"/>
            <a:ext cx="2560320" cy="274320"/>
          </a:xfrm>
          <a:prstGeom prst="rect">
            <a:avLst/>
          </a:prstGeom>
          <a:noFill/>
          <a:ln/>
        </p:spPr>
        <p:txBody>
          <a:bodyPr wrap="square" lIns="0" tIns="0" rIns="0" bIns="0" rtlCol="0" anchor="ctr"/>
          <a:lstStyle/>
          <a:p>
            <a:pPr indent="0" marL="0">
              <a:buNone/>
            </a:pPr>
            <a:r>
              <a:rPr lang="en-US" sz="1000" b="1" spc="300" kern="0" dirty="0">
                <a:solidFill>
                  <a:srgbClr val="D9603F"/>
                </a:solidFill>
                <a:latin typeface="Calibri" pitchFamily="34" charset="0"/>
                <a:ea typeface="Calibri" pitchFamily="34" charset="-122"/>
                <a:cs typeface="Calibri" pitchFamily="34" charset="-120"/>
              </a:rPr>
              <a:t>Presentation layer</a:t>
            </a:r>
            <a:endParaRPr lang="en-US" sz="1000" dirty="0"/>
          </a:p>
        </p:txBody>
      </p:sp>
      <p:sp>
        <p:nvSpPr>
          <p:cNvPr id="21" name="Text 19"/>
          <p:cNvSpPr/>
          <p:nvPr/>
        </p:nvSpPr>
        <p:spPr>
          <a:xfrm>
            <a:off x="9180576" y="2743200"/>
            <a:ext cx="2560320" cy="365760"/>
          </a:xfrm>
          <a:prstGeom prst="rect">
            <a:avLst/>
          </a:prstGeom>
          <a:noFill/>
          <a:ln/>
        </p:spPr>
        <p:txBody>
          <a:bodyPr wrap="square" lIns="0" tIns="0" rIns="0" bIns="0" rtlCol="0" anchor="ctr"/>
          <a:lstStyle/>
          <a:p>
            <a:pPr indent="0" marL="0">
              <a:buNone/>
            </a:pPr>
            <a:r>
              <a:rPr lang="en-US" sz="2000" b="1" dirty="0">
                <a:solidFill>
                  <a:srgbClr val="1A2530"/>
                </a:solidFill>
                <a:latin typeface="Georgia" pitchFamily="34" charset="0"/>
                <a:ea typeface="Georgia" pitchFamily="34" charset="-122"/>
                <a:cs typeface="Georgia" pitchFamily="34" charset="-120"/>
              </a:rPr>
              <a:t>Vitalis Web App</a:t>
            </a:r>
            <a:endParaRPr lang="en-US" sz="2000" dirty="0"/>
          </a:p>
        </p:txBody>
      </p:sp>
      <p:sp>
        <p:nvSpPr>
          <p:cNvPr id="22" name="Text 20"/>
          <p:cNvSpPr/>
          <p:nvPr/>
        </p:nvSpPr>
        <p:spPr>
          <a:xfrm>
            <a:off x="8540496" y="3246120"/>
            <a:ext cx="3200400" cy="2880360"/>
          </a:xfrm>
          <a:prstGeom prst="rect">
            <a:avLst/>
          </a:prstGeom>
          <a:noFill/>
          <a:ln/>
        </p:spPr>
        <p:txBody>
          <a:bodyPr wrap="square" lIns="0" tIns="0" rIns="0" bIns="0" rtlCol="0" anchor="t"/>
          <a:lstStyle/>
          <a:p>
            <a:pPr indent="0" marL="0">
              <a:buNone/>
            </a:pPr>
            <a:r>
              <a:rPr lang="en-US" sz="1100" dirty="0">
                <a:solidFill>
                  <a:srgbClr val="4A5460"/>
                </a:solidFill>
                <a:latin typeface="Calibri" pitchFamily="34" charset="0"/>
                <a:ea typeface="Calibri" pitchFamily="34" charset="-122"/>
                <a:cs typeface="Calibri" pitchFamily="34" charset="-120"/>
              </a:rPr>
              <a:t>React + Vite + Tailwind + Recharts.</a:t>
            </a:r>
            <a:endParaRPr lang="en-US" sz="1100" dirty="0"/>
          </a:p>
          <a:p>
            <a:pPr indent="0" marL="0">
              <a:buNone/>
            </a:pPr>
            <a:endParaRPr lang="en-US" sz="1100" dirty="0"/>
          </a:p>
          <a:p>
            <a:pPr indent="0" marL="0">
              <a:buNone/>
            </a:pPr>
            <a:r>
              <a:rPr lang="en-US" sz="1100" dirty="0">
                <a:solidFill>
                  <a:srgbClr val="4A5460"/>
                </a:solidFill>
                <a:latin typeface="Calibri" pitchFamily="34" charset="0"/>
                <a:ea typeface="Calibri" pitchFamily="34" charset="-122"/>
                <a:cs typeface="Calibri" pitchFamily="34" charset="-120"/>
              </a:rPr>
              <a:t>Mirror of the Power BI dashboards with cross-filtering, light/dark mode, LocalStorage persistence.</a:t>
            </a:r>
            <a:endParaRPr lang="en-US" sz="1100" dirty="0"/>
          </a:p>
          <a:p>
            <a:pPr indent="0" marL="0">
              <a:buNone/>
            </a:pPr>
            <a:endParaRPr lang="en-US" sz="1100" dirty="0"/>
          </a:p>
          <a:p>
            <a:pPr indent="0" marL="0">
              <a:buNone/>
            </a:pPr>
            <a:r>
              <a:rPr lang="en-US" sz="1100" dirty="0">
                <a:solidFill>
                  <a:srgbClr val="4A5460"/>
                </a:solidFill>
                <a:latin typeface="Calibri" pitchFamily="34" charset="0"/>
                <a:ea typeface="Calibri" pitchFamily="34" charset="-122"/>
                <a:cs typeface="Calibri" pitchFamily="34" charset="-120"/>
              </a:rPr>
              <a:t>Three pages: Dashboard, Add Record, Settings — all built on the same dataset.</a:t>
            </a:r>
            <a:endParaRPr lang="en-US" sz="1100" dirty="0"/>
          </a:p>
        </p:txBody>
      </p:sp>
      <p:sp>
        <p:nvSpPr>
          <p:cNvPr id="23" name="Text 21"/>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8A8275"/>
                </a:solidFill>
                <a:latin typeface="Calibri" pitchFamily="34" charset="0"/>
                <a:ea typeface="Calibri" pitchFamily="34" charset="-122"/>
                <a:cs typeface="Calibri" pitchFamily="34" charset="-120"/>
              </a:rPr>
              <a:t>13 / 14</a:t>
            </a:r>
            <a:endParaRPr lang="en-US" sz="900" dirty="0"/>
          </a:p>
        </p:txBody>
      </p:sp>
      <p:sp>
        <p:nvSpPr>
          <p:cNvPr id="24" name="Text 22"/>
          <p:cNvSpPr/>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8A8275"/>
                </a:solidFill>
                <a:latin typeface="Calibri" pitchFamily="34" charset="0"/>
                <a:ea typeface="Calibri" pitchFamily="34" charset="-122"/>
                <a:cs typeface="Calibri" pitchFamily="34" charset="-120"/>
              </a:rPr>
              <a:t>Vitalis Healthcare Project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530"/>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3D6655"/>
          </a:solidFill>
          <a:ln w="12700">
            <a:solidFill>
              <a:srgbClr val="3D6655"/>
            </a:solidFill>
            <a:prstDash val="solid"/>
          </a:ln>
        </p:spPr>
      </p:sp>
      <p:sp>
        <p:nvSpPr>
          <p:cNvPr id="3" name="Shape 1"/>
          <p:cNvSpPr/>
          <p:nvPr/>
        </p:nvSpPr>
        <p:spPr>
          <a:xfrm>
            <a:off x="457200" y="2468880"/>
            <a:ext cx="1645920" cy="1645920"/>
          </a:xfrm>
          <a:prstGeom prst="rect">
            <a:avLst/>
          </a:prstGeom>
          <a:solidFill>
            <a:srgbClr val="D9603F"/>
          </a:solidFill>
          <a:ln w="12700">
            <a:solidFill>
              <a:srgbClr val="D9603F"/>
            </a:solidFill>
            <a:prstDash val="solid"/>
          </a:ln>
        </p:spPr>
      </p:sp>
      <p:sp>
        <p:nvSpPr>
          <p:cNvPr id="4" name="Text 2"/>
          <p:cNvSpPr/>
          <p:nvPr/>
        </p:nvSpPr>
        <p:spPr>
          <a:xfrm>
            <a:off x="640080" y="822960"/>
            <a:ext cx="3200400" cy="365760"/>
          </a:xfrm>
          <a:prstGeom prst="rect">
            <a:avLst/>
          </a:prstGeom>
          <a:noFill/>
          <a:ln/>
        </p:spPr>
        <p:txBody>
          <a:bodyPr wrap="square" lIns="0" tIns="0" rIns="0" bIns="0" rtlCol="0" anchor="ctr"/>
          <a:lstStyle/>
          <a:p>
            <a:pPr indent="0" marL="0">
              <a:buNone/>
            </a:pPr>
            <a:r>
              <a:rPr lang="en-US" sz="1200" b="1" spc="400" kern="0" dirty="0">
                <a:solidFill>
                  <a:srgbClr val="F4F1EA"/>
                </a:solidFill>
                <a:latin typeface="Calibri" pitchFamily="34" charset="0"/>
                <a:ea typeface="Calibri" pitchFamily="34" charset="-122"/>
                <a:cs typeface="Calibri" pitchFamily="34" charset="-120"/>
              </a:rPr>
              <a:t>VITALIS</a:t>
            </a:r>
            <a:endParaRPr lang="en-US" sz="1200" dirty="0"/>
          </a:p>
        </p:txBody>
      </p:sp>
      <p:sp>
        <p:nvSpPr>
          <p:cNvPr id="5" name="Text 3"/>
          <p:cNvSpPr/>
          <p:nvPr/>
        </p:nvSpPr>
        <p:spPr>
          <a:xfrm>
            <a:off x="457200" y="1280160"/>
            <a:ext cx="3657600" cy="822960"/>
          </a:xfrm>
          <a:prstGeom prst="rect">
            <a:avLst/>
          </a:prstGeom>
          <a:noFill/>
          <a:ln/>
        </p:spPr>
        <p:txBody>
          <a:bodyPr wrap="square" lIns="0" tIns="0" rIns="0" bIns="0" rtlCol="0" anchor="ctr"/>
          <a:lstStyle/>
          <a:p>
            <a:pPr indent="0" marL="0">
              <a:buNone/>
            </a:pPr>
            <a:r>
              <a:rPr lang="en-US" sz="4200" b="1" dirty="0">
                <a:solidFill>
                  <a:srgbClr val="F4F1EA"/>
                </a:solidFill>
                <a:latin typeface="Georgia" pitchFamily="34" charset="0"/>
                <a:ea typeface="Georgia" pitchFamily="34" charset="-122"/>
                <a:cs typeface="Georgia" pitchFamily="34" charset="-120"/>
              </a:rPr>
              <a:t>Summary</a:t>
            </a:r>
            <a:endParaRPr lang="en-US" sz="4200" dirty="0"/>
          </a:p>
        </p:txBody>
      </p:sp>
      <p:sp>
        <p:nvSpPr>
          <p:cNvPr id="6" name="Text 4"/>
          <p:cNvSpPr/>
          <p:nvPr/>
        </p:nvSpPr>
        <p:spPr>
          <a:xfrm>
            <a:off x="5029200" y="822960"/>
            <a:ext cx="6400800" cy="365760"/>
          </a:xfrm>
          <a:prstGeom prst="rect">
            <a:avLst/>
          </a:prstGeom>
          <a:noFill/>
          <a:ln/>
        </p:spPr>
        <p:txBody>
          <a:bodyPr wrap="square" lIns="0" tIns="0" rIns="0" bIns="0" rtlCol="0" anchor="ctr"/>
          <a:lstStyle/>
          <a:p>
            <a:pPr indent="0" marL="0">
              <a:buNone/>
            </a:pPr>
            <a:r>
              <a:rPr lang="en-US" sz="1100" b="1" spc="400" kern="0" dirty="0">
                <a:solidFill>
                  <a:srgbClr val="C2A046"/>
                </a:solidFill>
                <a:latin typeface="Calibri" pitchFamily="34" charset="0"/>
                <a:ea typeface="Calibri" pitchFamily="34" charset="-122"/>
                <a:cs typeface="Calibri" pitchFamily="34" charset="-120"/>
              </a:rPr>
              <a:t>KEY TAKEAWAY</a:t>
            </a:r>
            <a:endParaRPr lang="en-US" sz="1100" dirty="0"/>
          </a:p>
        </p:txBody>
      </p:sp>
      <p:sp>
        <p:nvSpPr>
          <p:cNvPr id="7" name="Text 5"/>
          <p:cNvSpPr/>
          <p:nvPr/>
        </p:nvSpPr>
        <p:spPr>
          <a:xfrm>
            <a:off x="5029200" y="1371600"/>
            <a:ext cx="6675120" cy="914400"/>
          </a:xfrm>
          <a:prstGeom prst="rect">
            <a:avLst/>
          </a:prstGeom>
          <a:noFill/>
          <a:ln/>
        </p:spPr>
        <p:txBody>
          <a:bodyPr wrap="square" lIns="0" tIns="0" rIns="0" bIns="0" rtlCol="0" anchor="ctr"/>
          <a:lstStyle/>
          <a:p>
            <a:pPr indent="0" marL="0">
              <a:buNone/>
            </a:pPr>
            <a:r>
              <a:rPr lang="en-US" sz="3000" b="1" i="1" dirty="0">
                <a:solidFill>
                  <a:srgbClr val="F4F1EA"/>
                </a:solidFill>
                <a:latin typeface="Georgia" pitchFamily="34" charset="0"/>
                <a:ea typeface="Georgia" pitchFamily="34" charset="-122"/>
                <a:cs typeface="Georgia" pitchFamily="34" charset="-120"/>
              </a:rPr>
              <a:t>Healthcare data, transformed into action.</a:t>
            </a:r>
            <a:endParaRPr lang="en-US" sz="3000" dirty="0"/>
          </a:p>
        </p:txBody>
      </p:sp>
      <p:sp>
        <p:nvSpPr>
          <p:cNvPr id="8" name="Text 6"/>
          <p:cNvSpPr/>
          <p:nvPr/>
        </p:nvSpPr>
        <p:spPr>
          <a:xfrm>
            <a:off x="5029200" y="2560320"/>
            <a:ext cx="6675120" cy="1097280"/>
          </a:xfrm>
          <a:prstGeom prst="rect">
            <a:avLst/>
          </a:prstGeom>
          <a:noFill/>
          <a:ln/>
        </p:spPr>
        <p:txBody>
          <a:bodyPr wrap="square" lIns="0" tIns="0" rIns="0" bIns="0" rtlCol="0" anchor="t"/>
          <a:lstStyle/>
          <a:p>
            <a:pPr indent="0" marL="0">
              <a:buNone/>
            </a:pPr>
            <a:r>
              <a:rPr lang="en-US" sz="1400" dirty="0">
                <a:solidFill>
                  <a:srgbClr val="EFE9DC"/>
                </a:solidFill>
                <a:latin typeface="Calibri" pitchFamily="34" charset="0"/>
                <a:ea typeface="Calibri" pitchFamily="34" charset="-122"/>
                <a:cs typeface="Calibri" pitchFamily="34" charset="-120"/>
              </a:rPr>
              <a:t>This project demonstrates how patient, financial, and operational data can be transformed into actionable insights using SQL, Power BI, and a modern web stack.</a:t>
            </a:r>
            <a:endParaRPr lang="en-US" sz="1400" dirty="0"/>
          </a:p>
        </p:txBody>
      </p:sp>
      <p:sp>
        <p:nvSpPr>
          <p:cNvPr id="9" name="Text 7"/>
          <p:cNvSpPr/>
          <p:nvPr/>
        </p:nvSpPr>
        <p:spPr>
          <a:xfrm>
            <a:off x="5029200" y="3749040"/>
            <a:ext cx="6675120" cy="1280160"/>
          </a:xfrm>
          <a:prstGeom prst="rect">
            <a:avLst/>
          </a:prstGeom>
          <a:noFill/>
          <a:ln/>
        </p:spPr>
        <p:txBody>
          <a:bodyPr wrap="square" lIns="0" tIns="0" rIns="0" bIns="0" rtlCol="0" anchor="t"/>
          <a:lstStyle/>
          <a:p>
            <a:pPr indent="0" marL="0">
              <a:buNone/>
            </a:pPr>
            <a:r>
              <a:rPr lang="en-US" sz="1300" dirty="0">
                <a:solidFill>
                  <a:srgbClr val="7FA38D"/>
                </a:solidFill>
                <a:latin typeface="Calibri" pitchFamily="34" charset="0"/>
                <a:ea typeface="Calibri" pitchFamily="34" charset="-122"/>
                <a:cs typeface="Calibri" pitchFamily="34" charset="-120"/>
              </a:rPr>
              <a:t>The analysis surfaces strong revenue performance in specific locations and specialties, operational inefficiencies (notably a 33% no-show rate), and the disproportionate impact of chronic disease and aging populations on healthcare costs.</a:t>
            </a:r>
            <a:endParaRPr lang="en-US" sz="1300" dirty="0"/>
          </a:p>
        </p:txBody>
      </p:sp>
      <p:sp>
        <p:nvSpPr>
          <p:cNvPr id="10" name="Text 8"/>
          <p:cNvSpPr/>
          <p:nvPr/>
        </p:nvSpPr>
        <p:spPr>
          <a:xfrm>
            <a:off x="5029200" y="5212080"/>
            <a:ext cx="6675120" cy="914400"/>
          </a:xfrm>
          <a:prstGeom prst="rect">
            <a:avLst/>
          </a:prstGeom>
          <a:noFill/>
          <a:ln/>
        </p:spPr>
        <p:txBody>
          <a:bodyPr wrap="square" lIns="0" tIns="0" rIns="0" bIns="0" rtlCol="0" anchor="t"/>
          <a:lstStyle/>
          <a:p>
            <a:pPr indent="0" marL="0">
              <a:buNone/>
            </a:pPr>
            <a:r>
              <a:rPr lang="en-US" sz="1200" i="1" dirty="0">
                <a:solidFill>
                  <a:srgbClr val="7FA38D"/>
                </a:solidFill>
                <a:latin typeface="Calibri" pitchFamily="34" charset="0"/>
                <a:ea typeface="Calibri" pitchFamily="34" charset="-122"/>
                <a:cs typeface="Calibri" pitchFamily="34" charset="-120"/>
              </a:rPr>
              <a:t>Acting on these findings can improve patient outcomes, operational efficiency, and financial sustainability simultaneously — and the dashboards make those decisions easier to make.</a:t>
            </a:r>
            <a:endParaRPr lang="en-US" sz="1200" dirty="0"/>
          </a:p>
        </p:txBody>
      </p:sp>
      <p:sp>
        <p:nvSpPr>
          <p:cNvPr id="11" name="Text 9"/>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7FA38D"/>
                </a:solidFill>
                <a:latin typeface="Calibri" pitchFamily="34" charset="0"/>
                <a:ea typeface="Calibri" pitchFamily="34" charset="-122"/>
                <a:cs typeface="Calibri"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Vitalis Healthcare — Project Documentation</dc:title>
  <dc:subject>PptxGenJS Presentation</dc:subject>
  <dc:creator>Vitalis Healthcare Project</dc:creator>
  <cp:lastModifiedBy>Vitalis Healthcare Project</cp:lastModifiedBy>
  <cp:revision>1</cp:revision>
  <dcterms:created xsi:type="dcterms:W3CDTF">2026-05-15T11:39:18Z</dcterms:created>
  <dcterms:modified xsi:type="dcterms:W3CDTF">2026-05-15T11:39:18Z</dcterms:modified>
</cp:coreProperties>
</file>